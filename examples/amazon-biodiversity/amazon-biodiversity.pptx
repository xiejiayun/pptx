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notesMasters/_rels/notesMaster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jpeg" ContentType="image/jpeg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notesSlides/notesSlide2.xml" ContentType="application/vnd.openxmlformats-officedocument.presentationml.notesSlide+xml"/>
  <Override PartName="/ppt/notesSlides/_rels/notesSlide2.xml.rels" ContentType="application/vnd.openxmlformats-package.relationships+xml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media/image2.jpeg" ContentType="image/jpeg"/>
  <Override PartName="/ppt/media/image3.jpeg" ContentType="image/jpeg"/>
  <Override PartName="/ppt/notesSlides/notesSlide3.xml" ContentType="application/vnd.openxmlformats-officedocument.presentationml.notesSlide+xml"/>
  <Override PartName="/ppt/notesSlides/_rels/notesSlide3.xml.rels" ContentType="application/vnd.openxmlformats-package.relationships+xml"/>
  <Override PartName="/ppt/slides/slide4.xml" ContentType="application/vnd.openxmlformats-officedocument.presentationml.slide+xml"/>
  <Override PartName="/ppt/slides/_rels/slide4.xml.rels" ContentType="application/vnd.openxmlformats-package.relationships+xml"/>
  <Override PartName="/ppt/media/image4.jpeg" ContentType="image/jpeg"/>
  <Override PartName="/ppt/notesSlides/notesSlide4.xml" ContentType="application/vnd.openxmlformats-officedocument.presentationml.notesSlide+xml"/>
  <Override PartName="/ppt/notesSlides/_rels/notesSlide4.xml.rels" ContentType="application/vnd.openxmlformats-package.relationships+xml"/>
  <Override PartName="/ppt/slides/slide5.xml" ContentType="application/vnd.openxmlformats-officedocument.presentationml.slide+xml"/>
  <Override PartName="/ppt/slides/_rels/slide5.xml.rels" ContentType="application/vnd.openxmlformats-package.relationships+xml"/>
  <Override PartName="/ppt/media/image5.jpeg" ContentType="image/jpeg"/>
  <Override PartName="/ppt/notesSlides/notesSlide5.xml" ContentType="application/vnd.openxmlformats-officedocument.presentationml.notesSlide+xml"/>
  <Override PartName="/ppt/notesSlides/_rels/notesSlide5.xml.rels" ContentType="application/vnd.openxmlformats-package.relationships+xml"/>
  <Override PartName="/ppt/slides/slide6.xml" ContentType="application/vnd.openxmlformats-officedocument.presentationml.slide+xml"/>
  <Override PartName="/ppt/slides/_rels/slide6.xml.rels" ContentType="application/vnd.openxmlformats-package.relationships+xml"/>
  <Override PartName="/ppt/notesSlides/notesSlide6.xml" ContentType="application/vnd.openxmlformats-officedocument.presentationml.notesSlide+xml"/>
  <Override PartName="/ppt/notesSlides/_rels/notesSlide6.xml.rels" ContentType="application/vnd.openxmlformats-package.relationships+xml"/>
  <Override PartName="/ppt/slides/slide7.xml" ContentType="application/vnd.openxmlformats-officedocument.presentationml.slide+xml"/>
  <Override PartName="/ppt/slides/_rels/slide7.xml.rels" ContentType="application/vnd.openxmlformats-package.relationships+xml"/>
  <Override PartName="/ppt/media/image6.jpeg" ContentType="image/jpeg"/>
  <Override PartName="/ppt/notesSlides/notesSlide7.xml" ContentType="application/vnd.openxmlformats-officedocument.presentationml.notesSlide+xml"/>
  <Override PartName="/ppt/notesSlides/_rels/notesSlide7.xml.rels" ContentType="application/vnd.openxmlformats-package.relationships+xml"/>
  <Override PartName="/ppt/slides/slide8.xml" ContentType="application/vnd.openxmlformats-officedocument.presentationml.slide+xml"/>
  <Override PartName="/ppt/slides/_rels/slide8.xml.rels" ContentType="application/vnd.openxmlformats-package.relationships+xml"/>
  <Override PartName="/ppt/notesSlides/notesSlide8.xml" ContentType="application/vnd.openxmlformats-officedocument.presentationml.notesSlide+xml"/>
  <Override PartName="/ppt/notesSlides/_rels/notesSlide8.xml.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notesMasterIdLst>
    <p:notesMasterId r:id="rId3"/>
  </p:notesMasterIdLst>
  <p:sldSz cx="12192000" cy="6858000"/>
  <p:notesSz cx="6858000" cy="12192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View">
  <p:normalViewPr/>
  <p:slideViewPr/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hf hdr="1" ftr="1" dt="1" sldNum="1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WWF — About the Amazon: https://wwf.panda.org/discover/knowledge_hub/where_we_work/amazon/about_the_amazon/
Image: canopy.jpg — lubasi, CC BY-SA 2.0; see sources.txt.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WWF — About the Amazon: biome extent and ~10% known-species context: https://wwf.panda.org/discover/knowledge_hub/where_we_work/amazon/about_the_amazon/
Forest-layer descriptions are qualitative synthesis for this presentation.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WWF — Jaguar: https://www.worldwildlife.org/species/jaguar
WWF — Amazon River Dolphin: https://www.worldwildlife.org/species/amazon-river-dolphin
Pauli et al. (2014) — sloth fur micro-ecosystem: https://doi.org/10.1098/rspb.2013.3006
Image: jaguar.jpg — Charles J. Sharp, CC BY-SA 4.0; see sources.txt.
Image: sloth.jpg — deboas, CC BY 4.0; see sources.txt.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Smithsonian National Zoo — Leafcutter Ant: fungus cultivation and colony ecology: https://nationalzoo.si.edu/animals/leafcutter-ant
Image: ants.jpg — Matheysil, CC BY-SA 4.0; see sources.txt.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ter Steege et al., Science (2013) — ~390 billion trees and ~16,000 tree species: https://doi.org/10.1126/science.1243092
Image: plants.jpg — Dick Culbert, CC BY 2.0; see sources.txt.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NASA Earth Observatory — The Amazon’s Vicious Cycles: moisture recycling, drought, fire, and land-use feedbacks: https://earthobservatory.nasa.gov/features/AmazonFire
IPCC AR6 WGII Chapter 12: https://www.ipcc.ch/report/ar6/wg2/chapter/chapter-12/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NASA Earth Observatory — The Amazon’s Vicious Cycles: https://earthobservatory.nasa.gov/features/AmazonFire
IPCC AR6 WGII Chapter 12: https://www.ipcc.ch/report/ar6/wg2/chapter/chapter-12/
Global Forest Watch — Brazil forest-change dashboard: https://www.globalforestwatch.org/dashboards/country/BRA/?category=forest-change
Image: deforestation.jpg — NASA LANCE FIRMS / ESDIS, public domain; see sources.txt.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[Sources]
IPCC AR6 WGII Chapter 12 — conservation, adaptation, and land-use context: https://www.ipcc.ch/report/ar6/wg2/chapter/chapter-12/
Global Forest Watch — monitoring context: https://www.globalforestwatch.org/dashboards/country/BRA/?category=forest-change
Action framing is a presentation synthesis, not a ranked policy assessment.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erial view of Amazon rainforest crossed by winding brown rivers"/>
          <p:cNvPicPr>
            <a:picLocks noChangeAspect="1"/>
          </p:cNvPicPr>
          <p:nvPr/>
        </p:nvPicPr>
        <p:blipFill>
          <a:blip r:embed="rId2"/>
          <a:srcRect l="0" t="4221" r="0" b="42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1B">
              <a:alpha val="5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4" name="Shap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51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251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Shap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E27D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749808" y="6858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E27D"/>
                </a:solidFill>
                <a:latin typeface="Aptos"/>
                <a:ea typeface="Aptos"/>
                <a:cs typeface="Aptos"/>
              </a:rPr>
              <a:t xml:space="preserve">BIODIVERSITY / CLIMATE / CONTINUITY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713232" y="1051560"/>
            <a:ext cx="69494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 xml:space="preserve">AMAZON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749808" y="1883664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 xml:space="preserve">The living climate engine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749808" y="2670048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A forest where species, water and atmosphere are one connected system.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Shape 11"/>
          <p:cNvSpPr/>
          <p:nvPr/>
        </p:nvSpPr>
        <p:spPr>
          <a:xfrm>
            <a:off x="749808" y="5916168"/>
            <a:ext cx="1005840" cy="914"/>
          </a:xfrm>
          <a:prstGeom prst="line">
            <a:avLst/>
          </a:prstGeom>
          <a:noFill/>
          <a:ln w="38100">
            <a:solidFill>
              <a:srgbClr val="C9E27D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1901952" y="57790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A visual field guide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658368" y="38404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01 / SCALE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658368" y="694944"/>
            <a:ext cx="10515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A251B"/>
                </a:solidFill>
                <a:latin typeface="Aptos Display"/>
                <a:ea typeface="Aptos Display"/>
                <a:cs typeface="Aptos Display"/>
              </a:rPr>
              <a:t xml:space="preserve">Biodiversity is the Amazon’s operating system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658368" y="1481328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F6B45"/>
                </a:solidFill>
                <a:latin typeface="Aptos Display"/>
                <a:ea typeface="Aptos Display"/>
                <a:cs typeface="Aptos Display"/>
              </a:rPr>
              <a:t xml:space="preserve">~10%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Text 5"/>
          <p:cNvSpPr/>
          <p:nvPr/>
        </p:nvSpPr>
        <p:spPr>
          <a:xfrm>
            <a:off x="713232" y="2359152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of the world’s known species are associated with the Amazon.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6" name="Shape 6"/>
          <p:cNvSpPr/>
          <p:nvPr/>
        </p:nvSpPr>
        <p:spPr>
          <a:xfrm>
            <a:off x="658368" y="3822192"/>
            <a:ext cx="3310128" cy="1417320"/>
          </a:xfrm>
          <a:prstGeom prst="roundRect">
            <a:avLst/>
          </a:prstGeom>
          <a:solidFill>
            <a:srgbClr val="123C2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914400" y="406908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6.7 million km²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914400" y="4526280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A biome roughly twice the size of India.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Shape 9"/>
          <p:cNvSpPr/>
          <p:nvPr/>
        </p:nvSpPr>
        <p:spPr>
          <a:xfrm>
            <a:off x="4645152" y="1536192"/>
            <a:ext cx="6812280" cy="822960"/>
          </a:xfrm>
          <a:prstGeom prst="rect">
            <a:avLst/>
          </a:prstGeom>
          <a:solidFill>
            <a:srgbClr val="C9E27D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4937760" y="16733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EMERGENT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6720840" y="1673352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sun, wind, giant crowns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>
            <a:off x="4645152" y="2423160"/>
            <a:ext cx="6812280" cy="1325880"/>
          </a:xfrm>
          <a:prstGeom prst="rect">
            <a:avLst/>
          </a:prstGeom>
          <a:solidFill>
            <a:srgbClr val="75A66C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3" name="Text 13"/>
          <p:cNvSpPr/>
          <p:nvPr/>
        </p:nvSpPr>
        <p:spPr>
          <a:xfrm>
            <a:off x="4937760" y="25603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CANOPY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6720840" y="256032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most leaves, flowers and animal life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>
            <a:off x="4645152" y="3813048"/>
            <a:ext cx="6812280" cy="960120"/>
          </a:xfrm>
          <a:prstGeom prst="rect">
            <a:avLst/>
          </a:prstGeom>
          <a:solidFill>
            <a:srgbClr val="2F6B45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6" name="Text 16"/>
          <p:cNvSpPr/>
          <p:nvPr/>
        </p:nvSpPr>
        <p:spPr>
          <a:xfrm>
            <a:off x="4937760" y="395020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UNDERSTORY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7" name="Text 17"/>
          <p:cNvSpPr/>
          <p:nvPr/>
        </p:nvSpPr>
        <p:spPr>
          <a:xfrm>
            <a:off x="6720840" y="3950208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shade-adapted plants and predators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8" name="Shape 18"/>
          <p:cNvSpPr/>
          <p:nvPr/>
        </p:nvSpPr>
        <p:spPr>
          <a:xfrm>
            <a:off x="4645152" y="4837176"/>
            <a:ext cx="6812280" cy="731520"/>
          </a:xfrm>
          <a:prstGeom prst="rect">
            <a:avLst/>
          </a:prstGeom>
          <a:solidFill>
            <a:srgbClr val="123C2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4937760" y="49743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FOREST FLOOR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Text 20"/>
          <p:cNvSpPr/>
          <p:nvPr/>
        </p:nvSpPr>
        <p:spPr>
          <a:xfrm>
            <a:off x="6720840" y="4974336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fungi, detritivores and rapid recycling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1" name="Text 21"/>
          <p:cNvSpPr/>
          <p:nvPr/>
        </p:nvSpPr>
        <p:spPr>
          <a:xfrm>
            <a:off x="4681728" y="6016752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Four layers. Millions of interactions. One interdependent system.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2" name="Text 22"/>
          <p:cNvSpPr/>
          <p:nvPr/>
        </p:nvSpPr>
        <p:spPr>
          <a:xfrm>
            <a:off x="11292840" y="641908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02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aguar facing forward while walking through forest vegetation"/>
          <p:cNvPicPr>
            <a:picLocks noChangeAspect="1"/>
          </p:cNvPicPr>
          <p:nvPr/>
        </p:nvPicPr>
        <p:blipFill>
          <a:blip r:embed="rId2"/>
          <a:srcRect l="17323" t="0" r="17323" b="0"/>
          <a:stretch>
            <a:fillRect/>
          </a:stretch>
        </p:blipFill>
        <p:spPr>
          <a:xfrm>
            <a:off x="0" y="0"/>
            <a:ext cx="6720840" cy="68580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3" name="Shape 3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0A251B">
              <a:alpha val="68000"/>
            </a:srgbClr>
          </a:solidFill>
          <a:ln>
            <a:noFill/>
          </a:ln>
        </p:spPr>
      </p:sp>
      <p:pic>
        <p:nvPicPr>
          <p:cNvPr id="4" name="Image 1" descr="Maned sloth resting in the tree canopy"/>
          <p:cNvPicPr>
            <a:picLocks noChangeAspect="1"/>
          </p:cNvPicPr>
          <p:nvPr/>
        </p:nvPicPr>
        <p:blipFill>
          <a:blip r:embed="rId3"/>
          <a:srcRect l="0" t="5827" r="0" b="5827"/>
          <a:stretch>
            <a:fillRect/>
          </a:stretch>
        </p:blipFill>
        <p:spPr>
          <a:xfrm>
            <a:off x="7818120" y="658368"/>
            <a:ext cx="3657600" cy="2148840"/>
          </a:xfrm>
          <a:prstGeom prst="ellipse">
            <a:avLst/>
          </a:prstGeom>
        </p:spPr>
      </p:pic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6080760" y="0"/>
            <a:ext cx="640080" cy="6858000"/>
          </a:xfrm>
          <a:prstGeom prst="rect">
            <a:avLst/>
          </a:prstGeom>
          <a:solidFill>
            <a:srgbClr val="0A251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658368" y="438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E27D"/>
                </a:solidFill>
                <a:latin typeface="Aptos"/>
                <a:ea typeface="Aptos"/>
                <a:cs typeface="Aptos"/>
              </a:rPr>
              <a:t xml:space="preserve">02 / MAMMALS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658368" y="749808"/>
            <a:ext cx="55778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 xml:space="preserve">Three ways to inhabit a forest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Shape 8"/>
          <p:cNvSpPr/>
          <p:nvPr/>
        </p:nvSpPr>
        <p:spPr>
          <a:xfrm>
            <a:off x="658368" y="4407408"/>
            <a:ext cx="5321808" cy="1444752"/>
          </a:xfrm>
          <a:prstGeom prst="roundRect">
            <a:avLst/>
          </a:prstGeom>
          <a:solidFill>
            <a:srgbClr val="123C2B">
              <a:alpha val="9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914400" y="45902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A93D"/>
                </a:solidFill>
                <a:latin typeface="Aptos"/>
                <a:ea typeface="Aptos"/>
                <a:cs typeface="Aptos"/>
              </a:rPr>
              <a:t xml:space="preserve">JAGUAR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914400" y="482803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Apex predator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3246120" y="4608576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Keeps food webs dynamic across vast connected ranges.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7818120" y="2999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E27D"/>
                </a:solidFill>
                <a:latin typeface="Aptos"/>
                <a:ea typeface="Aptos"/>
                <a:cs typeface="Aptos"/>
              </a:rPr>
              <a:t xml:space="preserve">SLOTH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3" name="Text 13"/>
          <p:cNvSpPr/>
          <p:nvPr/>
        </p:nvSpPr>
        <p:spPr>
          <a:xfrm>
            <a:off x="7818120" y="32461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A moving microhabitat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7818120" y="370332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Slow metabolism, canopy camouflage and a coat shared with algae and invertebrates.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Shape 15"/>
          <p:cNvSpPr/>
          <p:nvPr/>
        </p:nvSpPr>
        <p:spPr>
          <a:xfrm>
            <a:off x="7818120" y="4919472"/>
            <a:ext cx="640080" cy="640080"/>
          </a:xfrm>
          <a:prstGeom prst="ellipse">
            <a:avLst/>
          </a:prstGeom>
          <a:solidFill>
            <a:srgbClr val="E78AA8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>
            <a:off x="8522208" y="5239512"/>
            <a:ext cx="685800" cy="914"/>
          </a:xfrm>
          <a:prstGeom prst="line">
            <a:avLst/>
          </a:prstGeom>
          <a:noFill/>
          <a:ln w="31750">
            <a:solidFill>
              <a:srgbClr val="E78AA8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7" name="Text 17"/>
          <p:cNvSpPr/>
          <p:nvPr/>
        </p:nvSpPr>
        <p:spPr>
          <a:xfrm>
            <a:off x="9326880" y="50017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8AA8"/>
                </a:solidFill>
                <a:latin typeface="Aptos"/>
                <a:ea typeface="Aptos"/>
                <a:cs typeface="Aptos"/>
              </a:rPr>
              <a:t xml:space="preserve">PINK RIVER DOLPHIN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9326880" y="5321808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Navigates flooded forest by sound.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11292840" y="641908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03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afcutter ant carrying a leaf segment along tree bark"/>
          <p:cNvPicPr>
            <a:picLocks noChangeAspect="1"/>
          </p:cNvPicPr>
          <p:nvPr/>
        </p:nvPicPr>
        <p:blipFill>
          <a:blip r:embed="rId2"/>
          <a:srcRect l="11707" t="0" r="11707" b="0"/>
          <a:stretch>
            <a:fillRect/>
          </a:stretch>
        </p:blipFill>
        <p:spPr>
          <a:xfrm>
            <a:off x="5623560" y="0"/>
            <a:ext cx="6565392" cy="68580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3" name="Shape 3"/>
          <p:cNvSpPr/>
          <p:nvPr/>
        </p:nvSpPr>
        <p:spPr>
          <a:xfrm>
            <a:off x="5230368" y="0"/>
            <a:ext cx="1143000" cy="6858000"/>
          </a:xfrm>
          <a:prstGeom prst="rect">
            <a:avLst/>
          </a:prstGeom>
          <a:solidFill>
            <a:srgbClr val="EEF4E8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658368" y="42062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03 / INVERTEBRATES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Text 5"/>
          <p:cNvSpPr/>
          <p:nvPr/>
        </p:nvSpPr>
        <p:spPr>
          <a:xfrm>
            <a:off x="658368" y="749808"/>
            <a:ext cx="48463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A251B"/>
                </a:solidFill>
                <a:latin typeface="Aptos Display"/>
                <a:ea typeface="Aptos Display"/>
                <a:cs typeface="Aptos Display"/>
              </a:rPr>
              <a:t xml:space="preserve">The small species do the heavy work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694944" y="155448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C4D32"/>
                </a:solidFill>
                <a:latin typeface="Aptos"/>
                <a:ea typeface="Aptos"/>
                <a:cs typeface="Aptos"/>
              </a:rPr>
              <a:t xml:space="preserve">Leafcutter ants are not leaf eaters.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694944" y="2103120"/>
            <a:ext cx="42519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They harvest leaves to cultivate fungus—the colony’s food supply.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Shape 8"/>
          <p:cNvSpPr/>
          <p:nvPr/>
        </p:nvSpPr>
        <p:spPr>
          <a:xfrm>
            <a:off x="713232" y="3154680"/>
            <a:ext cx="566928" cy="566928"/>
          </a:xfrm>
          <a:prstGeom prst="ellipse">
            <a:avLst/>
          </a:prstGeom>
          <a:solidFill>
            <a:srgbClr val="E7A93D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713232" y="31546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1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1481328" y="313639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CUT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2578608" y="313639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fresh vegetation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>
            <a:off x="996696" y="3767328"/>
            <a:ext cx="914" cy="384048"/>
          </a:xfrm>
          <a:prstGeom prst="line">
            <a:avLst/>
          </a:prstGeom>
          <a:noFill/>
          <a:ln w="19050">
            <a:solidFill>
              <a:srgbClr val="75A66C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>
            <a:off x="713232" y="4114800"/>
            <a:ext cx="566928" cy="566928"/>
          </a:xfrm>
          <a:prstGeom prst="ellipse">
            <a:avLst/>
          </a:prstGeom>
          <a:solidFill>
            <a:srgbClr val="75A66C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713232" y="41148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1481328" y="409651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CULTIVATE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6" name="Text 16"/>
          <p:cNvSpPr/>
          <p:nvPr/>
        </p:nvSpPr>
        <p:spPr>
          <a:xfrm>
            <a:off x="2578608" y="409651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fungus gardens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>
            <a:off x="996696" y="4727448"/>
            <a:ext cx="914" cy="384048"/>
          </a:xfrm>
          <a:prstGeom prst="line">
            <a:avLst/>
          </a:prstGeom>
          <a:noFill/>
          <a:ln w="19050">
            <a:solidFill>
              <a:srgbClr val="75A66C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8" name="Shape 18"/>
          <p:cNvSpPr/>
          <p:nvPr/>
        </p:nvSpPr>
        <p:spPr>
          <a:xfrm>
            <a:off x="713232" y="5074920"/>
            <a:ext cx="566928" cy="566928"/>
          </a:xfrm>
          <a:prstGeom prst="ellipse">
            <a:avLst/>
          </a:prstGeom>
          <a:solidFill>
            <a:srgbClr val="2F6B45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713232" y="50749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Text 20"/>
          <p:cNvSpPr/>
          <p:nvPr/>
        </p:nvSpPr>
        <p:spPr>
          <a:xfrm>
            <a:off x="1481328" y="505663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HARVEST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1" name="Text 21"/>
          <p:cNvSpPr/>
          <p:nvPr/>
        </p:nvSpPr>
        <p:spPr>
          <a:xfrm>
            <a:off x="2578608" y="505663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fungus as colony food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2" name="Text 22"/>
          <p:cNvSpPr/>
          <p:nvPr/>
        </p:nvSpPr>
        <p:spPr>
          <a:xfrm>
            <a:off x="11292840" y="641908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04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stera dubia climbing a rainforest tree trunk"/>
          <p:cNvPicPr>
            <a:picLocks noChangeAspect="1"/>
          </p:cNvPicPr>
          <p:nvPr/>
        </p:nvPicPr>
        <p:blipFill>
          <a:blip r:embed="rId2"/>
          <a:srcRect l="0" t="15025" r="0" b="15025"/>
          <a:stretch>
            <a:fillRect/>
          </a:stretch>
        </p:blipFill>
        <p:spPr>
          <a:xfrm>
            <a:off x="0" y="0"/>
            <a:ext cx="6720840" cy="68580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3" name="Shape 3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0A251B">
              <a:alpha val="76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658368" y="438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E27D"/>
                </a:solidFill>
                <a:latin typeface="Aptos"/>
                <a:ea typeface="Aptos"/>
                <a:cs typeface="Aptos"/>
              </a:rPr>
              <a:t xml:space="preserve">04 / PLANTS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Text 5"/>
          <p:cNvSpPr/>
          <p:nvPr/>
        </p:nvSpPr>
        <p:spPr>
          <a:xfrm>
            <a:off x="658368" y="749808"/>
            <a:ext cx="53035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 xml:space="preserve">The forest is a vertical city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713232" y="47091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E27D"/>
                </a:solidFill>
                <a:latin typeface="Aptos"/>
                <a:ea typeface="Aptos"/>
                <a:cs typeface="Aptos"/>
              </a:rPr>
              <a:t xml:space="preserve">Light is the scarce currency.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713232" y="5138928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Trees race upward; lianas borrow trunks; epiphytes build gardens in the canopy.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7360920" y="1024128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9E27D"/>
                </a:solidFill>
                <a:latin typeface="Aptos Display"/>
                <a:ea typeface="Aptos Display"/>
                <a:cs typeface="Aptos Display"/>
              </a:rPr>
              <a:t xml:space="preserve">~390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955548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billion trees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Shape 10"/>
          <p:cNvSpPr/>
          <p:nvPr/>
        </p:nvSpPr>
        <p:spPr>
          <a:xfrm>
            <a:off x="7360920" y="2048256"/>
            <a:ext cx="3840480" cy="914"/>
          </a:xfrm>
          <a:prstGeom prst="line">
            <a:avLst/>
          </a:prstGeom>
          <a:noFill/>
          <a:ln w="19050">
            <a:solidFill>
              <a:srgbClr val="75A66C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7360920" y="237744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7A93D"/>
                </a:solidFill>
                <a:latin typeface="Aptos Display"/>
                <a:ea typeface="Aptos Display"/>
                <a:cs typeface="Aptos Display"/>
              </a:rPr>
              <a:t xml:space="preserve">~16,000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9582912" y="2642616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tree species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>
            <a:off x="7315200" y="3794760"/>
            <a:ext cx="4114800" cy="1417320"/>
          </a:xfrm>
          <a:prstGeom prst="roundRect">
            <a:avLst/>
          </a:prstGeom>
          <a:solidFill>
            <a:srgbClr val="0A251B">
              <a:alpha val="82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7635240" y="400507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Diversity is uneven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7635240" y="4462272"/>
            <a:ext cx="34015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A small set of “hyperdominant” trees accounts for a large share of stems—yet rare species hold irreplaceable genetic options.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6" name="Text 16"/>
          <p:cNvSpPr/>
          <p:nvPr/>
        </p:nvSpPr>
        <p:spPr>
          <a:xfrm>
            <a:off x="11292840" y="641908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05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658368" y="40233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E27D"/>
                </a:solidFill>
                <a:latin typeface="Aptos"/>
                <a:ea typeface="Aptos"/>
                <a:cs typeface="Aptos"/>
              </a:rPr>
              <a:t xml:space="preserve">05 / PLANETARY ROLE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 xml:space="preserve">The Amazon moves water before it stores carbon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713232" y="182880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FOREST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713232" y="2157984"/>
            <a:ext cx="2194560" cy="2194560"/>
          </a:xfrm>
          <a:prstGeom prst="ellipse">
            <a:avLst/>
          </a:prstGeom>
          <a:solidFill>
            <a:srgbClr val="C9E27D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1024128" y="269748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LEAVES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1024128" y="3090672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release moisture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Shape 8"/>
          <p:cNvSpPr/>
          <p:nvPr/>
        </p:nvSpPr>
        <p:spPr>
          <a:xfrm>
            <a:off x="3044952" y="3246120"/>
            <a:ext cx="1115568" cy="914"/>
          </a:xfrm>
          <a:prstGeom prst="line">
            <a:avLst/>
          </a:prstGeom>
          <a:noFill/>
          <a:ln w="50800">
            <a:solidFill>
              <a:srgbClr val="55B7C4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9" name="Shape 9"/>
          <p:cNvSpPr/>
          <p:nvPr/>
        </p:nvSpPr>
        <p:spPr>
          <a:xfrm>
            <a:off x="4297680" y="2157984"/>
            <a:ext cx="2194560" cy="2194560"/>
          </a:xfrm>
          <a:prstGeom prst="ellipse">
            <a:avLst/>
          </a:prstGeom>
          <a:solidFill>
            <a:srgbClr val="55B7C4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4608576" y="269748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AIR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4608576" y="3090672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transports vapor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Shape 12"/>
          <p:cNvSpPr/>
          <p:nvPr/>
        </p:nvSpPr>
        <p:spPr>
          <a:xfrm>
            <a:off x="6629400" y="3246120"/>
            <a:ext cx="1115568" cy="914"/>
          </a:xfrm>
          <a:prstGeom prst="line">
            <a:avLst/>
          </a:prstGeom>
          <a:noFill/>
          <a:ln w="50800">
            <a:solidFill>
              <a:srgbClr val="55B7C4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>
            <a:off x="7882128" y="2157984"/>
            <a:ext cx="2194560" cy="2194560"/>
          </a:xfrm>
          <a:prstGeom prst="ellipse">
            <a:avLst/>
          </a:prstGeom>
          <a:solidFill>
            <a:srgbClr val="EEF4E8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8193024" y="269748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RAIN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8193024" y="3090672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feeds rivers + farms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 flipH="1">
            <a:off x="2075688" y="4434840"/>
            <a:ext cx="7909560" cy="868680"/>
          </a:xfrm>
          <a:prstGeom prst="line">
            <a:avLst/>
          </a:prstGeom>
          <a:noFill/>
          <a:ln w="25400">
            <a:solidFill>
              <a:srgbClr val="75A66C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7" name="Text 17"/>
          <p:cNvSpPr/>
          <p:nvPr/>
        </p:nvSpPr>
        <p:spPr>
          <a:xfrm>
            <a:off x="3703320" y="502920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27D"/>
                </a:solidFill>
                <a:latin typeface="Aptos"/>
                <a:ea typeface="Aptos"/>
                <a:cs typeface="Aptos"/>
              </a:rPr>
              <a:t xml:space="preserve">RECYCLED MOISTURE RETURNS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8" name="Shape 18"/>
          <p:cNvSpPr/>
          <p:nvPr/>
        </p:nvSpPr>
        <p:spPr>
          <a:xfrm>
            <a:off x="713232" y="5623560"/>
            <a:ext cx="10561320" cy="530352"/>
          </a:xfrm>
          <a:prstGeom prst="roundRect">
            <a:avLst/>
          </a:prstGeom>
          <a:solidFill>
            <a:srgbClr val="C9E27D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960120" y="575157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At the same time, living biomass locks up carbon—until clearing and fire reverse the flow.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Text 20"/>
          <p:cNvSpPr/>
          <p:nvPr/>
        </p:nvSpPr>
        <p:spPr>
          <a:xfrm>
            <a:off x="11292840" y="641908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06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atellite view of fragmented Amazon forest with red hotspot markers"/>
          <p:cNvPicPr>
            <a:picLocks noChangeAspect="1"/>
          </p:cNvPicPr>
          <p:nvPr/>
        </p:nvPicPr>
        <p:blipFill>
          <a:blip r:embed="rId2"/>
          <a:srcRect l="0" t="27432" r="0" b="2743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1B">
              <a:alpha val="55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4" name="Shape 4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0A251B">
              <a:alpha val="88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251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Shap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251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658368" y="438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A93D"/>
                </a:solidFill>
                <a:latin typeface="Aptos"/>
                <a:ea typeface="Aptos"/>
                <a:cs typeface="Aptos"/>
              </a:rPr>
              <a:t xml:space="preserve">06 / THREAT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658368" y="768096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 xml:space="preserve">Deforestation becomes a feedback loop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Text 9"/>
          <p:cNvSpPr/>
          <p:nvPr/>
        </p:nvSpPr>
        <p:spPr>
          <a:xfrm>
            <a:off x="713232" y="2084832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Clearing removes habitat once. Drying and fire can keep removing it.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0" name="Shape 10"/>
          <p:cNvSpPr/>
          <p:nvPr/>
        </p:nvSpPr>
        <p:spPr>
          <a:xfrm>
            <a:off x="713232" y="4315968"/>
            <a:ext cx="3154680" cy="1143000"/>
          </a:xfrm>
          <a:prstGeom prst="roundRect">
            <a:avLst/>
          </a:prstGeom>
          <a:solidFill>
            <a:srgbClr val="8C4D32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960120" y="450799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The risk is cumulative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960120" y="495604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0E2"/>
                </a:solidFill>
                <a:latin typeface="Aptos"/>
                <a:ea typeface="Aptos"/>
                <a:cs typeface="Aptos"/>
              </a:rPr>
              <a:t xml:space="preserve">roads + extraction + heat + fire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>
            <a:off x="4754880" y="4069080"/>
            <a:ext cx="1234440" cy="1325880"/>
          </a:xfrm>
          <a:prstGeom prst="roundRect">
            <a:avLst/>
          </a:prstGeom>
          <a:solidFill>
            <a:srgbClr val="E7A93D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4864608" y="4224528"/>
            <a:ext cx="10149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CLEAR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4864608" y="4553712"/>
            <a:ext cx="10149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habitat removed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6" name="Shape 16"/>
          <p:cNvSpPr/>
          <p:nvPr/>
        </p:nvSpPr>
        <p:spPr>
          <a:xfrm flipV="1">
            <a:off x="6035040" y="4251960"/>
            <a:ext cx="320040" cy="457200"/>
          </a:xfrm>
          <a:prstGeom prst="line">
            <a:avLst/>
          </a:prstGeom>
          <a:noFill/>
          <a:ln w="25400">
            <a:solidFill>
              <a:srgbClr val="E7A93D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>
            <a:off x="6172200" y="3611880"/>
            <a:ext cx="1234440" cy="1325880"/>
          </a:xfrm>
          <a:prstGeom prst="roundRect">
            <a:avLst/>
          </a:prstGeom>
          <a:solidFill>
            <a:srgbClr val="D38A3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6281928" y="3767328"/>
            <a:ext cx="10149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FRAGMENT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6281928" y="4096512"/>
            <a:ext cx="10149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edges heat + dry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Shape 20"/>
          <p:cNvSpPr/>
          <p:nvPr/>
        </p:nvSpPr>
        <p:spPr>
          <a:xfrm flipV="1">
            <a:off x="7452360" y="3794760"/>
            <a:ext cx="320040" cy="457200"/>
          </a:xfrm>
          <a:prstGeom prst="line">
            <a:avLst/>
          </a:prstGeom>
          <a:noFill/>
          <a:ln w="25400">
            <a:solidFill>
              <a:srgbClr val="E7A93D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1" name="Shape 21"/>
          <p:cNvSpPr/>
          <p:nvPr/>
        </p:nvSpPr>
        <p:spPr>
          <a:xfrm>
            <a:off x="7589520" y="3154680"/>
            <a:ext cx="1234440" cy="1325880"/>
          </a:xfrm>
          <a:prstGeom prst="roundRect">
            <a:avLst/>
          </a:prstGeom>
          <a:solidFill>
            <a:srgbClr val="8C4D32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2" name="Text 22"/>
          <p:cNvSpPr/>
          <p:nvPr/>
        </p:nvSpPr>
        <p:spPr>
          <a:xfrm>
            <a:off x="7699248" y="3310128"/>
            <a:ext cx="10149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DRY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3" name="Text 23"/>
          <p:cNvSpPr/>
          <p:nvPr/>
        </p:nvSpPr>
        <p:spPr>
          <a:xfrm>
            <a:off x="7699248" y="3639312"/>
            <a:ext cx="10149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edges lose moisture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4" name="Shape 24"/>
          <p:cNvSpPr/>
          <p:nvPr/>
        </p:nvSpPr>
        <p:spPr>
          <a:xfrm flipV="1">
            <a:off x="8869680" y="3337560"/>
            <a:ext cx="320040" cy="457200"/>
          </a:xfrm>
          <a:prstGeom prst="line">
            <a:avLst/>
          </a:prstGeom>
          <a:noFill/>
          <a:ln w="25400">
            <a:solidFill>
              <a:srgbClr val="E7A93D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5" name="Shape 25"/>
          <p:cNvSpPr/>
          <p:nvPr/>
        </p:nvSpPr>
        <p:spPr>
          <a:xfrm>
            <a:off x="9006840" y="2697480"/>
            <a:ext cx="1234440" cy="1325880"/>
          </a:xfrm>
          <a:prstGeom prst="roundRect">
            <a:avLst/>
          </a:prstGeom>
          <a:solidFill>
            <a:srgbClr val="6B4438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26" name="Text 26"/>
          <p:cNvSpPr/>
          <p:nvPr/>
        </p:nvSpPr>
        <p:spPr>
          <a:xfrm>
            <a:off x="9116568" y="2852928"/>
            <a:ext cx="10149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BURN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7" name="Text 27"/>
          <p:cNvSpPr/>
          <p:nvPr/>
        </p:nvSpPr>
        <p:spPr>
          <a:xfrm>
            <a:off x="9116568" y="3182112"/>
            <a:ext cx="10149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fire releases carbon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8" name="Shape 28"/>
          <p:cNvSpPr/>
          <p:nvPr/>
        </p:nvSpPr>
        <p:spPr>
          <a:xfrm flipV="1">
            <a:off x="10287000" y="2880360"/>
            <a:ext cx="320040" cy="457200"/>
          </a:xfrm>
          <a:prstGeom prst="line">
            <a:avLst/>
          </a:prstGeom>
          <a:noFill/>
          <a:ln w="25400">
            <a:solidFill>
              <a:srgbClr val="E7A93D"/>
            </a:solidFill>
            <a:prstDash val="solid"/>
          </a:ln>
        </p:spPr>
      </p:sp>
      <p:sp xmlns:p="http://schemas.openxmlformats.org/presentationml/2006/main" xmlns:a="http://schemas.openxmlformats.org/drawingml/2006/main">
        <p:nvSpPr>
          <p:cNvPr id="29" name="Shape 29"/>
          <p:cNvSpPr/>
          <p:nvPr/>
        </p:nvSpPr>
        <p:spPr>
          <a:xfrm>
            <a:off x="10424160" y="2240280"/>
            <a:ext cx="1234440" cy="1325880"/>
          </a:xfrm>
          <a:prstGeom prst="roundRect">
            <a:avLst/>
          </a:prstGeom>
          <a:solidFill>
            <a:srgbClr val="0A251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30" name="Text 30"/>
          <p:cNvSpPr/>
          <p:nvPr/>
        </p:nvSpPr>
        <p:spPr>
          <a:xfrm>
            <a:off x="10533888" y="2395728"/>
            <a:ext cx="10149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LOSE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1" name="Text 31"/>
          <p:cNvSpPr/>
          <p:nvPr/>
        </p:nvSpPr>
        <p:spPr>
          <a:xfrm>
            <a:off x="10533888" y="2724912"/>
            <a:ext cx="1014984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species + resilience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2" name="Text 32"/>
          <p:cNvSpPr/>
          <p:nvPr/>
        </p:nvSpPr>
        <p:spPr>
          <a:xfrm>
            <a:off x="11292840" y="641908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07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658368" y="4114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07 / RESPONSE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3" name="Text 3"/>
          <p:cNvSpPr/>
          <p:nvPr/>
        </p:nvSpPr>
        <p:spPr>
          <a:xfrm>
            <a:off x="658368" y="731520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A251B"/>
                </a:solidFill>
                <a:latin typeface="Aptos Display"/>
                <a:ea typeface="Aptos Display"/>
                <a:cs typeface="Aptos Display"/>
              </a:rPr>
              <a:t xml:space="preserve">Protect continuity—not isolated fragments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685800" y="1417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The strongest strategy keeps ecological processes connected across landscapes and generations.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5" name="Shape 5"/>
          <p:cNvSpPr/>
          <p:nvPr/>
        </p:nvSpPr>
        <p:spPr>
          <a:xfrm>
            <a:off x="713232" y="2331720"/>
            <a:ext cx="10771632" cy="749808"/>
          </a:xfrm>
          <a:prstGeom prst="roundRect">
            <a:avLst/>
          </a:prstGeom>
          <a:solidFill>
            <a:srgbClr val="C9E27D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6" name="Text 6"/>
          <p:cNvSpPr/>
          <p:nvPr/>
        </p:nvSpPr>
        <p:spPr>
          <a:xfrm>
            <a:off x="960120" y="249631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01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7" name="Text 7"/>
          <p:cNvSpPr/>
          <p:nvPr/>
        </p:nvSpPr>
        <p:spPr>
          <a:xfrm>
            <a:off x="1645920" y="249631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RIGHTS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3703320" y="2478024"/>
            <a:ext cx="7178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Secure Indigenous and local-community stewardship.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9" name="Shape 9"/>
          <p:cNvSpPr/>
          <p:nvPr/>
        </p:nvSpPr>
        <p:spPr>
          <a:xfrm>
            <a:off x="713232" y="3200400"/>
            <a:ext cx="10771632" cy="749808"/>
          </a:xfrm>
          <a:prstGeom prst="roundRect">
            <a:avLst/>
          </a:prstGeom>
          <a:solidFill>
            <a:srgbClr val="75A66C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" name="Text 10"/>
          <p:cNvSpPr/>
          <p:nvPr/>
        </p:nvSpPr>
        <p:spPr>
          <a:xfrm>
            <a:off x="960120" y="33649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02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1" name="Text 11"/>
          <p:cNvSpPr/>
          <p:nvPr/>
        </p:nvSpPr>
        <p:spPr>
          <a:xfrm>
            <a:off x="1645920" y="33649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ENFORCEMENT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2" name="Text 12"/>
          <p:cNvSpPr/>
          <p:nvPr/>
        </p:nvSpPr>
        <p:spPr>
          <a:xfrm>
            <a:off x="3703320" y="3346704"/>
            <a:ext cx="7178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A251B"/>
                </a:solidFill>
                <a:latin typeface="Aptos"/>
                <a:ea typeface="Aptos"/>
                <a:cs typeface="Aptos"/>
              </a:rPr>
              <a:t xml:space="preserve">Stop illegal clearing, mining and wildlife trade.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3" name="Shape 13"/>
          <p:cNvSpPr/>
          <p:nvPr/>
        </p:nvSpPr>
        <p:spPr>
          <a:xfrm>
            <a:off x="713232" y="4069080"/>
            <a:ext cx="10771632" cy="749808"/>
          </a:xfrm>
          <a:prstGeom prst="roundRect">
            <a:avLst/>
          </a:prstGeom>
          <a:solidFill>
            <a:srgbClr val="2F6B45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4" name="Text 14"/>
          <p:cNvSpPr/>
          <p:nvPr/>
        </p:nvSpPr>
        <p:spPr>
          <a:xfrm>
            <a:off x="960120" y="423367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03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5" name="Text 15"/>
          <p:cNvSpPr/>
          <p:nvPr/>
        </p:nvSpPr>
        <p:spPr>
          <a:xfrm>
            <a:off x="1645920" y="423367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RESTORATION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6" name="Text 16"/>
          <p:cNvSpPr/>
          <p:nvPr/>
        </p:nvSpPr>
        <p:spPr>
          <a:xfrm>
            <a:off x="3703320" y="4215384"/>
            <a:ext cx="7178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Reconnect riverbanks, corridors and degraded edges.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7" name="Shape 17"/>
          <p:cNvSpPr/>
          <p:nvPr/>
        </p:nvSpPr>
        <p:spPr>
          <a:xfrm>
            <a:off x="713232" y="4937760"/>
            <a:ext cx="10771632" cy="749808"/>
          </a:xfrm>
          <a:prstGeom prst="roundRect">
            <a:avLst/>
          </a:prstGeom>
          <a:solidFill>
            <a:srgbClr val="123C2B">
              <a:alpha val="100000"/>
            </a:srgbClr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8" name="Text 18"/>
          <p:cNvSpPr/>
          <p:nvPr/>
        </p:nvSpPr>
        <p:spPr>
          <a:xfrm>
            <a:off x="960120" y="51023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04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19" name="Text 19"/>
          <p:cNvSpPr/>
          <p:nvPr/>
        </p:nvSpPr>
        <p:spPr>
          <a:xfrm>
            <a:off x="1645920" y="510235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 xml:space="preserve">MARKETS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0" name="Text 20"/>
          <p:cNvSpPr/>
          <p:nvPr/>
        </p:nvSpPr>
        <p:spPr>
          <a:xfrm>
            <a:off x="3703320" y="5084064"/>
            <a:ext cx="7178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EF4E8"/>
                </a:solidFill>
                <a:latin typeface="Aptos"/>
                <a:ea typeface="Aptos"/>
                <a:cs typeface="Aptos"/>
              </a:rPr>
              <a:t xml:space="preserve">Trace commodities and reward standing forest.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1" name="Text 21"/>
          <p:cNvSpPr/>
          <p:nvPr/>
        </p:nvSpPr>
        <p:spPr>
          <a:xfrm>
            <a:off x="713232" y="5961888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C4D32"/>
                </a:solidFill>
                <a:latin typeface="Aptos Display"/>
                <a:ea typeface="Aptos Display"/>
                <a:cs typeface="Aptos Display"/>
              </a:rPr>
              <a:t xml:space="preserve">A living Amazon is infrastructure for life.</a:t>
            </a:r>
            <a:endParaRPr lang="en-US" dirty="0"/>
          </a:p>
        </p:txBody>
      </p:sp>
      <p:sp xmlns:p="http://schemas.openxmlformats.org/presentationml/2006/main" xmlns:a="http://schemas.openxmlformats.org/drawingml/2006/main">
        <p:nvSpPr>
          <p:cNvPr id="22" name="Text 22"/>
          <p:cNvSpPr/>
          <p:nvPr/>
        </p:nvSpPr>
        <p:spPr>
          <a:xfrm>
            <a:off x="11292840" y="641908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B45"/>
                </a:solidFill>
                <a:latin typeface="Aptos"/>
                <a:ea typeface="Aptos"/>
                <a:cs typeface="Aptos"/>
              </a:rPr>
              <a:t xml:space="preserve">08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100000"/>
                <a:satMod val="2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@jiayunxie/pptx</Application>
  <PresentationFormat>Custom</PresentationFormat>
  <Company>OpenAI</Company>
  <AppVersion>1.0</AppVersion>
</Properties>
</file>

<file path=docProps/core.xml><?xml version="1.0" encoding="utf-8"?>
<cp:coreProperties xmlns:cp="http://schemas.openxmlformats.org/package/2006/metadata/core-properties" xmlns:dc="http://purl.org/dc/elements/1.1/">
  <dc:creator>Codex with @jiayunxie/pptx</dc:creator>
  <cp:lastModifiedBy>@jiayunxie/pptx</cp:lastModifiedBy>
  <cp:revision>1</cp:revision>
  <dc:title>Amazon: The Living Climate Engine</dc:title>
  <dc:subject>Amazon rainforest biodiversity, ecosystem role, and deforestation threats</dc:subject>
</cp:coreProperties>
</file>