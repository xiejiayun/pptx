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notesMasters/_rels/notesMaster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notesSlides/notesSlide2.xml" ContentType="application/vnd.openxmlformats-officedocument.presentationml.notesSlide+xml"/>
  <Override PartName="/ppt/notesSlides/_rels/notesSlide2.xml.rels" ContentType="application/vnd.openxmlformats-package.relationships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notesSlides/notesSlide3.xml" ContentType="application/vnd.openxmlformats-officedocument.presentationml.notesSlide+xml"/>
  <Override PartName="/ppt/notesSlides/_rels/notesSlide3.xml.rels" ContentType="application/vnd.openxmlformats-package.relationships+xml"/>
  <Override PartName="/ppt/slides/slide4.xml" ContentType="application/vnd.openxmlformats-officedocument.presentationml.slide+xml"/>
  <Override PartName="/ppt/slides/_rels/slide4.xml.rels" ContentType="application/vnd.openxmlformats-package.relationships+xml"/>
  <Override PartName="/ppt/notesSlides/notesSlide4.xml" ContentType="application/vnd.openxmlformats-officedocument.presentationml.notesSlide+xml"/>
  <Override PartName="/ppt/notesSlides/_rels/notesSlide4.xml.rels" ContentType="application/vnd.openxmlformats-package.relationships+xml"/>
  <Override PartName="/ppt/slides/slide5.xml" ContentType="application/vnd.openxmlformats-officedocument.presentationml.slide+xml"/>
  <Override PartName="/ppt/slides/_rels/slide5.xml.rels" ContentType="application/vnd.openxmlformats-package.relationships+xml"/>
  <Override PartName="/ppt/notesSlides/notesSlide5.xml" ContentType="application/vnd.openxmlformats-officedocument.presentationml.notesSlide+xml"/>
  <Override PartName="/ppt/notesSlides/_rels/notesSlide5.xml.rels" ContentType="application/vnd.openxmlformats-package.relationships+xml"/>
  <Override PartName="/ppt/slides/slide6.xml" ContentType="application/vnd.openxmlformats-officedocument.presentationml.slide+xml"/>
  <Override PartName="/ppt/slides/_rels/slide6.xml.rels" ContentType="application/vnd.openxmlformats-package.relationships+xml"/>
  <Override PartName="/ppt/notesSlides/notesSlide6.xml" ContentType="application/vnd.openxmlformats-officedocument.presentationml.notesSlide+xml"/>
  <Override PartName="/ppt/notesSlides/_rels/notesSlide6.xml.rels" ContentType="application/vnd.openxmlformats-package.relationships+xml"/>
  <Override PartName="/ppt/slides/slide7.xml" ContentType="application/vnd.openxmlformats-officedocument.presentationml.slide+xml"/>
  <Override PartName="/ppt/slides/_rels/slide7.xml.rels" ContentType="application/vnd.openxmlformats-package.relationships+xml"/>
  <Override PartName="/ppt/embeddings/Microsoft_Excel_Worksheet1.xlsx" ContentType="application/vnd.openxmlformats-officedocument.spreadsheetml.sheet"/>
  <Override PartName="/ppt/charts/chart1.xml" ContentType="application/vnd.openxmlformats-officedocument.drawingml.chart+xml"/>
  <Override PartName="/ppt/charts/_rels/chart1.xml.rels" ContentType="application/vnd.openxmlformats-package.relationships+xml"/>
  <Override PartName="/ppt/notesSlides/notesSlide7.xml" ContentType="application/vnd.openxmlformats-officedocument.presentationml.notesSlide+xml"/>
  <Override PartName="/ppt/notesSlides/_rels/notesSlide7.xml.rels" ContentType="application/vnd.openxmlformats-package.relationships+xml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notesSlides/notesSlide8.xml" ContentType="application/vnd.openxmlformats-officedocument.presentationml.notesSlide+xml"/>
  <Override PartName="/ppt/notesSlides/_rels/notesSlide8.xml.rels" ContentType="application/vnd.openxmlformats-package.relationships+xml"/>
  <Override PartName="/ppt/slides/slide9.xml" ContentType="application/vnd.openxmlformats-officedocument.presentationml.slide+xml"/>
  <Override PartName="/ppt/slides/_rels/slide9.xml.rels" ContentType="application/vnd.openxmlformats-package.relationships+xml"/>
  <Override PartName="/ppt/notesSlides/notesSlide9.xml" ContentType="application/vnd.openxmlformats-officedocument.presentationml.notesSlide+xml"/>
  <Override PartName="/ppt/notesSlides/_rels/notesSlide9.xml.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notesMasterIdLst>
    <p:notesMasterId r:id="rId3"/>
  </p:notesMasterIdLst>
  <p:sldSz cx="12192000" cy="6858000"/>
  <p:notesSz cx="6858000" cy="12192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View">
  <p:normalViewPr/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Deforestation (km²)</c:v>
                </c:pt>
              </c:strCache>
            </c:strRef>
          </c:tx>
          <c:spPr>
            <a:solidFill>
              <a:srgbClr val="2F694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10129</c:v>
                </c:pt>
                <c:pt idx="1">
                  <c:v>10851</c:v>
                </c:pt>
                <c:pt idx="2">
                  <c:v>13038</c:v>
                </c:pt>
                <c:pt idx="3">
                  <c:v>11594</c:v>
                </c:pt>
                <c:pt idx="4">
                  <c:v>9001</c:v>
                </c:pt>
                <c:pt idx="5">
                  <c:v>6288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3126"/>
                  </a:solidFill>
                  <a:latin typeface="Arial"/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overlap val="0"/>
        <c:axId val="10000001"/>
        <c:axId val="10000002"/>
      </c:barChart>
      <c:catAx>
        <c:axId val="1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607267">
                <a:alpha val="45000"/>
              </a:srgbClr>
            </a:solidFill>
            <a:prstDash val="solid"/>
          </a:ln>
        </c:spPr>
        <c:txPr>
          <a:bodyPr/>
          <a:lstStyle/>
          <a:p>
            <a:pPr>
              <a:defRPr sz="1200">
                <a:solidFill>
                  <a:srgbClr val="173126"/>
                </a:solidFill>
                <a:latin typeface="Arial"/>
              </a:defRPr>
            </a:pPr>
            <a:endParaRPr/>
          </a:p>
        </c:txPr>
        <c:crossAx val="10000002"/>
        <c:crosses val="autoZero"/>
        <c:auto val="1"/>
        <c:lblAlgn val="ctr"/>
        <c:lblOffset val="100"/>
      </c:catAx>
      <c:valAx>
        <c:axId val="10000002"/>
        <c:scaling>
          <c:orientation val="minMax"/>
        </c:scaling>
        <c:delete val="1"/>
        <c:axPos val="l"/>
        <c:majorGridlines>
          <c:spPr>
            <a:ln w="12700">
              <a:solidFill>
                <a:srgbClr val="607267">
                  <a:alpha val="25000"/>
                </a:srgbClr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crossAx val="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hdr="1" ftr="1" dt="1" sldNum="1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https://www.worldwildlife.org/places/amazon — regional biodiversity overview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https://rainforests.mongabay.com/0401.htm — rainforest vertical layers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https://www.iucnredlist.org/species/15953/123791436 — jaguar status and ecology
https://www.iucnredlist.org/species/10831/50358152 — Amazon river dolphin status
https://www.si.edu/stories/surprising-symbiosis-between-sloths-and-moths — sloth–moth ecology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https://www.si.edu/spotlight/buginfo/insect-diversity — insect diversity and ecological roles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https://www.kew.org/read-and-watch/amazon-rainforest-plants — Amazon plant diversity
https://www.britannica.com/plant/Brazil-nut — Brazil nut ecology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https://www.worldwildlife.org/places/amazon — carbon storage and biodiversity overview
https://earthobservatory.nasa.gov/features/AmazonLAI/amazon_lai3.php — Amazon moisture recycling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https://terrabrasilis.dpi.inpe.br/app/dashboard/deforestation/biomes/legal_amazon/rates — PRODES annual deforestation rates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https://www.worldwildlife.org/threats/deforestation-and-forest-degradation — drivers and impacts of deforestation
https://www.ipcc.ch/srccl/chapter/chapter-2/ — land degradation, fire and climate interactions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https://www.worldwildlife.org/places/amazon — Amazon conservation priorities
https://www.fao.org/indigenous-peoples/news-article/en/c/1476893/ — Indigenous peoples and forest stewardship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658368" y="3529584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AMAZON BIODIVERSITY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694944" y="4315968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A living network that cools the planet — and cannot be rebuilt one species at a time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713232" y="519379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FIELD GUIDE  •  RAINFOREST SYSTEMS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137160" y="109728"/>
            <a:ext cx="5806440" cy="2971800"/>
          </a:xfrm>
          <a:prstGeom prst="ellipse">
            <a:avLst/>
          </a:prstGeom>
          <a:solidFill>
            <a:srgbClr val="2F6945">
              <a:alpha val="7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Shape 6"/>
          <p:cNvSpPr/>
          <p:nvPr/>
        </p:nvSpPr>
        <p:spPr>
          <a:xfrm>
            <a:off x="6126480" y="164592"/>
            <a:ext cx="5806440" cy="2880360"/>
          </a:xfrm>
          <a:prstGeom prst="ellipse">
            <a:avLst/>
          </a:prstGeom>
          <a:solidFill>
            <a:srgbClr val="6F8C4B">
              <a:alpha val="5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7" name="Shape 7"/>
          <p:cNvSpPr/>
          <p:nvPr/>
        </p:nvSpPr>
        <p:spPr>
          <a:xfrm rot="-1440000">
            <a:off x="457200" y="502920"/>
            <a:ext cx="1325880" cy="502920"/>
          </a:xfrm>
          <a:prstGeom prst="ellipse">
            <a:avLst/>
          </a:prstGeom>
          <a:solidFill>
            <a:srgbClr val="2F6945">
              <a:alpha val="8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 rot="-1440000">
            <a:off x="748894" y="754380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9" name="Shape 9"/>
          <p:cNvSpPr/>
          <p:nvPr/>
        </p:nvSpPr>
        <p:spPr>
          <a:xfrm rot="1680000">
            <a:off x="1481328" y="813816"/>
            <a:ext cx="1325880" cy="502920"/>
          </a:xfrm>
          <a:prstGeom prst="ellipse">
            <a:avLst/>
          </a:prstGeom>
          <a:solidFill>
            <a:srgbClr val="A8C77A">
              <a:alpha val="79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 rot="1680000">
            <a:off x="1773022" y="1065276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1" name="Shape 11"/>
          <p:cNvSpPr/>
          <p:nvPr/>
        </p:nvSpPr>
        <p:spPr>
          <a:xfrm rot="-1440000">
            <a:off x="2505456" y="1124712"/>
            <a:ext cx="1325880" cy="502920"/>
          </a:xfrm>
          <a:prstGeom prst="ellipse">
            <a:avLst/>
          </a:prstGeom>
          <a:solidFill>
            <a:srgbClr val="2F6945">
              <a:alpha val="7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 rot="-1440000">
            <a:off x="2797150" y="1376172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 rot="1680000">
            <a:off x="3529584" y="502920"/>
            <a:ext cx="1325880" cy="502920"/>
          </a:xfrm>
          <a:prstGeom prst="ellipse">
            <a:avLst/>
          </a:prstGeom>
          <a:solidFill>
            <a:srgbClr val="A8C77A">
              <a:alpha val="73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Shape 14"/>
          <p:cNvSpPr/>
          <p:nvPr/>
        </p:nvSpPr>
        <p:spPr>
          <a:xfrm rot="1680000">
            <a:off x="3821278" y="754380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 rot="-1440000">
            <a:off x="4553712" y="813816"/>
            <a:ext cx="1325880" cy="502920"/>
          </a:xfrm>
          <a:prstGeom prst="ellipse">
            <a:avLst/>
          </a:prstGeom>
          <a:solidFill>
            <a:srgbClr val="2F6945">
              <a:alpha val="7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rot="-1440000">
            <a:off x="4845406" y="1065276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 rot="1680000">
            <a:off x="5577840" y="1124712"/>
            <a:ext cx="1325880" cy="502920"/>
          </a:xfrm>
          <a:prstGeom prst="ellipse">
            <a:avLst/>
          </a:prstGeom>
          <a:solidFill>
            <a:srgbClr val="A8C77A">
              <a:alpha val="67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8" name="Shape 18"/>
          <p:cNvSpPr/>
          <p:nvPr/>
        </p:nvSpPr>
        <p:spPr>
          <a:xfrm rot="1680000">
            <a:off x="5869534" y="1376172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9" name="Shape 19"/>
          <p:cNvSpPr/>
          <p:nvPr/>
        </p:nvSpPr>
        <p:spPr>
          <a:xfrm rot="-1440000">
            <a:off x="6601968" y="502920"/>
            <a:ext cx="1325880" cy="502920"/>
          </a:xfrm>
          <a:prstGeom prst="ellipse">
            <a:avLst/>
          </a:prstGeom>
          <a:solidFill>
            <a:srgbClr val="2F6945">
              <a:alpha val="64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0" name="Shape 20"/>
          <p:cNvSpPr/>
          <p:nvPr/>
        </p:nvSpPr>
        <p:spPr>
          <a:xfrm rot="-1440000">
            <a:off x="6893662" y="754380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1" name="Shape 21"/>
          <p:cNvSpPr/>
          <p:nvPr/>
        </p:nvSpPr>
        <p:spPr>
          <a:xfrm rot="1680000">
            <a:off x="7626096" y="813816"/>
            <a:ext cx="1325880" cy="502920"/>
          </a:xfrm>
          <a:prstGeom prst="ellipse">
            <a:avLst/>
          </a:prstGeom>
          <a:solidFill>
            <a:srgbClr val="A8C77A">
              <a:alpha val="61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2" name="Shape 22"/>
          <p:cNvSpPr/>
          <p:nvPr/>
        </p:nvSpPr>
        <p:spPr>
          <a:xfrm rot="1680000">
            <a:off x="7917790" y="1065276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3" name="Shape 23"/>
          <p:cNvSpPr/>
          <p:nvPr/>
        </p:nvSpPr>
        <p:spPr>
          <a:xfrm rot="-1440000">
            <a:off x="8650224" y="1124712"/>
            <a:ext cx="1325880" cy="502920"/>
          </a:xfrm>
          <a:prstGeom prst="ellipse">
            <a:avLst/>
          </a:prstGeom>
          <a:solidFill>
            <a:srgbClr val="2F6945">
              <a:alpha val="5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4" name="Shape 24"/>
          <p:cNvSpPr/>
          <p:nvPr/>
        </p:nvSpPr>
        <p:spPr>
          <a:xfrm rot="-1440000">
            <a:off x="8941918" y="1376172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5" name="Shape 25"/>
          <p:cNvSpPr/>
          <p:nvPr/>
        </p:nvSpPr>
        <p:spPr>
          <a:xfrm rot="1680000">
            <a:off x="9674352" y="502920"/>
            <a:ext cx="1325880" cy="502920"/>
          </a:xfrm>
          <a:prstGeom prst="ellipse">
            <a:avLst/>
          </a:prstGeom>
          <a:solidFill>
            <a:srgbClr val="A8C77A">
              <a:alpha val="5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6" name="Shape 26"/>
          <p:cNvSpPr/>
          <p:nvPr/>
        </p:nvSpPr>
        <p:spPr>
          <a:xfrm rot="1680000">
            <a:off x="9966046" y="754380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7" name="Shape 27"/>
          <p:cNvSpPr/>
          <p:nvPr/>
        </p:nvSpPr>
        <p:spPr>
          <a:xfrm rot="-1440000">
            <a:off x="10698480" y="813816"/>
            <a:ext cx="1325880" cy="502920"/>
          </a:xfrm>
          <a:prstGeom prst="ellipse">
            <a:avLst/>
          </a:prstGeom>
          <a:solidFill>
            <a:srgbClr val="2F6945">
              <a:alpha val="5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8" name="Shape 28"/>
          <p:cNvSpPr/>
          <p:nvPr/>
        </p:nvSpPr>
        <p:spPr>
          <a:xfrm rot="-1440000">
            <a:off x="10990174" y="1065276"/>
            <a:ext cx="742493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9" name="Shape 29"/>
          <p:cNvSpPr/>
          <p:nvPr/>
        </p:nvSpPr>
        <p:spPr>
          <a:xfrm rot="-480000">
            <a:off x="8046720" y="4480560"/>
            <a:ext cx="3383280" cy="1417320"/>
          </a:xfrm>
          <a:prstGeom prst="arc">
            <a:avLst/>
          </a:prstGeom>
          <a:noFill/>
          <a:ln w="63500">
            <a:solidFill>
              <a:srgbClr val="4A91A8">
                <a:alpha val="80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30" name="Text 30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C77A"/>
                </a:solidFill>
                <a:latin typeface="Arial"/>
                <a:ea typeface="Arial"/>
                <a:cs typeface="Arial"/>
              </a:rPr>
              <a:t xml:space="preserve">01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The forest works vertically, layer by living layer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33272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945"/>
                </a:solidFill>
                <a:latin typeface="Arial"/>
                <a:ea typeface="Arial"/>
                <a:cs typeface="Arial"/>
              </a:rPr>
              <a:t xml:space="preserve">ONE ECOSYSTEM • FOUR INTERLOCKED HABITATS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585216" y="1417320"/>
            <a:ext cx="11018520" cy="987552"/>
          </a:xfrm>
          <a:prstGeom prst="rect">
            <a:avLst/>
          </a:prstGeom>
          <a:solidFill>
            <a:srgbClr val="A8C77A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822960" y="16002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EMERGENT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3246120" y="1536192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Sun, wind, giant crowns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6812280" y="160020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Harpy eagle  •  Brazil nut tree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>
            <a:off x="585216" y="2432304"/>
            <a:ext cx="11018520" cy="1115568"/>
          </a:xfrm>
          <a:prstGeom prst="rect">
            <a:avLst/>
          </a:prstGeom>
          <a:solidFill>
            <a:srgbClr val="6F8C4B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822960" y="261518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CANOPY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3246120" y="2551176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Most leaves, fruit and animal traffic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6812280" y="2615184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Sloth  •  toucan  •  orchids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>
            <a:off x="585216" y="3575304"/>
            <a:ext cx="11018520" cy="1033272"/>
          </a:xfrm>
          <a:prstGeom prst="rect">
            <a:avLst/>
          </a:prstGeom>
          <a:solidFill>
            <a:srgbClr val="2F6945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3" name="Text 13"/>
          <p:cNvSpPr/>
          <p:nvPr/>
        </p:nvSpPr>
        <p:spPr>
          <a:xfrm>
            <a:off x="822960" y="375818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UNDERSTORY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3246120" y="3694176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Shade, humidity and ambush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6812280" y="3758184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Jaguar  •  tree frogs  •  palms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>
            <a:off x="585216" y="4636008"/>
            <a:ext cx="11018520" cy="1115568"/>
          </a:xfrm>
          <a:prstGeom prst="rect">
            <a:avLst/>
          </a:prstGeom>
          <a:solidFill>
            <a:srgbClr val="0B2E22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" name="Text 17"/>
          <p:cNvSpPr/>
          <p:nvPr/>
        </p:nvSpPr>
        <p:spPr>
          <a:xfrm>
            <a:off x="822960" y="481888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FLOOR + RIVERS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3246120" y="4754880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Decomposition, nutrients and aquatic corridors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6812280" y="4818888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Fungi  •  ants  •  river dolphin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Shape 20"/>
          <p:cNvSpPr/>
          <p:nvPr/>
        </p:nvSpPr>
        <p:spPr>
          <a:xfrm rot="-1440000">
            <a:off x="8229600" y="1078992"/>
            <a:ext cx="731520" cy="256032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1" name="Shape 21"/>
          <p:cNvSpPr/>
          <p:nvPr/>
        </p:nvSpPr>
        <p:spPr>
          <a:xfrm rot="-1440000">
            <a:off x="8390534" y="1207008"/>
            <a:ext cx="409651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2" name="Shape 22"/>
          <p:cNvSpPr/>
          <p:nvPr/>
        </p:nvSpPr>
        <p:spPr>
          <a:xfrm rot="1440000">
            <a:off x="8759952" y="1243584"/>
            <a:ext cx="731520" cy="256032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3" name="Shape 23"/>
          <p:cNvSpPr/>
          <p:nvPr/>
        </p:nvSpPr>
        <p:spPr>
          <a:xfrm rot="1440000">
            <a:off x="8920886" y="1371600"/>
            <a:ext cx="409651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4" name="Shape 24"/>
          <p:cNvSpPr/>
          <p:nvPr/>
        </p:nvSpPr>
        <p:spPr>
          <a:xfrm rot="-1440000">
            <a:off x="9290304" y="1078992"/>
            <a:ext cx="731520" cy="256032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5" name="Shape 25"/>
          <p:cNvSpPr/>
          <p:nvPr/>
        </p:nvSpPr>
        <p:spPr>
          <a:xfrm rot="-1440000">
            <a:off x="9451238" y="1207008"/>
            <a:ext cx="409651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6" name="Shape 26"/>
          <p:cNvSpPr/>
          <p:nvPr/>
        </p:nvSpPr>
        <p:spPr>
          <a:xfrm rot="1440000">
            <a:off x="9820656" y="1243584"/>
            <a:ext cx="731520" cy="256032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7" name="Shape 27"/>
          <p:cNvSpPr/>
          <p:nvPr/>
        </p:nvSpPr>
        <p:spPr>
          <a:xfrm rot="1440000">
            <a:off x="9981590" y="1371600"/>
            <a:ext cx="409651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8" name="Shape 28"/>
          <p:cNvSpPr/>
          <p:nvPr/>
        </p:nvSpPr>
        <p:spPr>
          <a:xfrm rot="-1440000">
            <a:off x="10351008" y="1078992"/>
            <a:ext cx="731520" cy="256032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9" name="Shape 29"/>
          <p:cNvSpPr/>
          <p:nvPr/>
        </p:nvSpPr>
        <p:spPr>
          <a:xfrm rot="-1440000">
            <a:off x="10511942" y="1207008"/>
            <a:ext cx="409651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30" name="Shape 30"/>
          <p:cNvSpPr/>
          <p:nvPr/>
        </p:nvSpPr>
        <p:spPr>
          <a:xfrm rot="1440000">
            <a:off x="10881360" y="1243584"/>
            <a:ext cx="731520" cy="256032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31" name="Shape 31"/>
          <p:cNvSpPr/>
          <p:nvPr/>
        </p:nvSpPr>
        <p:spPr>
          <a:xfrm rot="1440000">
            <a:off x="11042294" y="1371600"/>
            <a:ext cx="409651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32" name="Text 32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Mammals keep the food web in motion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241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945"/>
                </a:solidFill>
                <a:latin typeface="Arial"/>
                <a:ea typeface="Arial"/>
                <a:cs typeface="Arial"/>
              </a:rPr>
              <a:t xml:space="preserve">THREE VERY DIFFERENT ENGINEERS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594360" y="1417320"/>
            <a:ext cx="4572000" cy="4572000"/>
          </a:xfrm>
          <a:prstGeom prst="ellipse">
            <a:avLst/>
          </a:prstGeom>
          <a:solidFill>
            <a:srgbClr val="E0A83E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1051560" y="20116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JAGUAR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1261872" y="2743200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Apex predator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1188720" y="324612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6342E"/>
                </a:solidFill>
                <a:latin typeface="Arial"/>
                <a:ea typeface="Arial"/>
                <a:cs typeface="Arial"/>
              </a:rPr>
              <a:t xml:space="preserve">Balances prey populations across forest and floodplain.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>
            <a:off x="1051560" y="1783080"/>
            <a:ext cx="201168" cy="201168"/>
          </a:xfrm>
          <a:prstGeom prst="ellipse">
            <a:avLst/>
          </a:prstGeom>
          <a:solidFill>
            <a:srgbClr val="0B2E22">
              <a:alpha val="8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9" name="Shape 9"/>
          <p:cNvSpPr/>
          <p:nvPr/>
        </p:nvSpPr>
        <p:spPr>
          <a:xfrm>
            <a:off x="4389120" y="2148840"/>
            <a:ext cx="155448" cy="155448"/>
          </a:xfrm>
          <a:prstGeom prst="ellipse">
            <a:avLst/>
          </a:prstGeom>
          <a:solidFill>
            <a:srgbClr val="0B2E22">
              <a:alpha val="8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>
            <a:off x="1234440" y="4617720"/>
            <a:ext cx="146304" cy="146304"/>
          </a:xfrm>
          <a:prstGeom prst="ellipse">
            <a:avLst/>
          </a:prstGeom>
          <a:solidFill>
            <a:srgbClr val="0B2E22">
              <a:alpha val="8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1" name="Shape 11"/>
          <p:cNvSpPr/>
          <p:nvPr/>
        </p:nvSpPr>
        <p:spPr>
          <a:xfrm>
            <a:off x="4160520" y="4526280"/>
            <a:ext cx="182880" cy="182880"/>
          </a:xfrm>
          <a:prstGeom prst="ellipse">
            <a:avLst/>
          </a:prstGeom>
          <a:solidFill>
            <a:srgbClr val="0B2E22">
              <a:alpha val="8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>
            <a:off x="5349240" y="1600200"/>
            <a:ext cx="6217920" cy="1371600"/>
          </a:xfrm>
          <a:prstGeom prst="arc">
            <a:avLst/>
          </a:prstGeom>
          <a:noFill/>
          <a:ln w="63500">
            <a:solidFill>
              <a:srgbClr val="4A91A8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3" name="Text 13"/>
          <p:cNvSpPr/>
          <p:nvPr/>
        </p:nvSpPr>
        <p:spPr>
          <a:xfrm>
            <a:off x="5596128" y="1600200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91A8"/>
                </a:solidFill>
                <a:latin typeface="Arial"/>
                <a:ea typeface="Arial"/>
                <a:cs typeface="Arial"/>
              </a:rPr>
              <a:t xml:space="preserve">AMAZON RIVER DOLPHIN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5596128" y="2084832"/>
            <a:ext cx="50749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A freshwater sentinel whose health reflects connected, flowing rivers.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>
            <a:off x="5559552" y="3182112"/>
            <a:ext cx="5166360" cy="914"/>
          </a:xfrm>
          <a:prstGeom prst="line">
            <a:avLst/>
          </a:prstGeom>
          <a:noFill/>
          <a:ln w="25400">
            <a:solidFill>
              <a:srgbClr val="6F8C4B">
                <a:alpha val="5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rot="1080000">
            <a:off x="9784080" y="3401568"/>
            <a:ext cx="1005840" cy="365760"/>
          </a:xfrm>
          <a:prstGeom prst="ellipse">
            <a:avLst/>
          </a:prstGeom>
          <a:solidFill>
            <a:srgbClr val="A8C77A">
              <a:alpha val="9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 rot="1080000">
            <a:off x="10005365" y="3584448"/>
            <a:ext cx="563270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5596128" y="33832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6945"/>
                </a:solidFill>
                <a:latin typeface="Arial"/>
                <a:ea typeface="Arial"/>
                <a:cs typeface="Arial"/>
              </a:rPr>
              <a:t xml:space="preserve">SLOTH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5596128" y="4005072"/>
            <a:ext cx="512064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Slow browsing creates a moving habitat for algae, moths and microbes.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5596128" y="523036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Predator  •  sentinel  •  mobile micro-ecosystem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1" name="Text 21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03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Insects run the forest’s invisible logistics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4241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POLLINATE • DECOMPOSE • DEFEND • DISPERSE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914400" y="1828800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POLLINATE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914400" y="230428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Bees, beetles and flies move pollen through every forest layer.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8183880" y="1572768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91A8"/>
                </a:solidFill>
                <a:latin typeface="Arial"/>
                <a:ea typeface="Arial"/>
                <a:cs typeface="Arial"/>
              </a:rPr>
              <a:t xml:space="preserve">DECOMPOSE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8183880" y="2048256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Termites and beetles unlock nutrients trapped in dead wood.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960120" y="4526280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6A4C"/>
                </a:solidFill>
                <a:latin typeface="Arial"/>
                <a:ea typeface="Arial"/>
                <a:cs typeface="Arial"/>
              </a:rPr>
              <a:t xml:space="preserve">DEFEND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960120" y="500176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Ant–plant partnerships turn leaves and stems into guarded territory.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8183880" y="4434840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C77A"/>
                </a:solidFill>
                <a:latin typeface="Arial"/>
                <a:ea typeface="Arial"/>
                <a:cs typeface="Arial"/>
              </a:rPr>
              <a:t xml:space="preserve">DISPERSE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8183880" y="49103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Ants and dung beetles relocate seeds and reshape regeneration.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>
            <a:off x="5166360" y="2834640"/>
            <a:ext cx="1920240" cy="1188720"/>
          </a:xfrm>
          <a:prstGeom prst="ellipse">
            <a:avLst/>
          </a:prstGeom>
          <a:solidFill>
            <a:srgbClr val="E0A83E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 rot="-1500000">
            <a:off x="4480560" y="2057400"/>
            <a:ext cx="1417320" cy="1051560"/>
          </a:xfrm>
          <a:prstGeom prst="ellipse">
            <a:avLst/>
          </a:prstGeom>
          <a:solidFill>
            <a:srgbClr val="A8C77A">
              <a:alpha val="9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Shape 14"/>
          <p:cNvSpPr/>
          <p:nvPr/>
        </p:nvSpPr>
        <p:spPr>
          <a:xfrm rot="1500000">
            <a:off x="6355080" y="2057400"/>
            <a:ext cx="1417320" cy="1051560"/>
          </a:xfrm>
          <a:prstGeom prst="ellipse">
            <a:avLst/>
          </a:prstGeom>
          <a:solidFill>
            <a:srgbClr val="A8C77A">
              <a:alpha val="9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 rot="1500000">
            <a:off x="4480560" y="3749040"/>
            <a:ext cx="1417320" cy="960120"/>
          </a:xfrm>
          <a:prstGeom prst="ellipse">
            <a:avLst/>
          </a:prstGeom>
          <a:solidFill>
            <a:srgbClr val="2F6945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rot="-1500000">
            <a:off x="6355080" y="3749040"/>
            <a:ext cx="1417320" cy="960120"/>
          </a:xfrm>
          <a:prstGeom prst="ellipse">
            <a:avLst/>
          </a:prstGeom>
          <a:solidFill>
            <a:srgbClr val="2F6945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>
            <a:off x="6126480" y="3044952"/>
            <a:ext cx="914" cy="822960"/>
          </a:xfrm>
          <a:prstGeom prst="line">
            <a:avLst/>
          </a:prstGeom>
          <a:noFill/>
          <a:ln w="38100">
            <a:solidFill>
              <a:srgbClr val="0B2E22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3977640" y="580644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No single inventory captures them all.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C77A"/>
                </a:solidFill>
                <a:latin typeface="Arial"/>
                <a:ea typeface="Arial"/>
                <a:cs typeface="Arial"/>
              </a:rPr>
              <a:t xml:space="preserve">04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Plants do more than fill the forest — they build it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2412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945"/>
                </a:solidFill>
                <a:latin typeface="Arial"/>
                <a:ea typeface="Arial"/>
                <a:cs typeface="Arial"/>
              </a:rPr>
              <a:t xml:space="preserve">A BOTANICAL ASCENT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5989320" y="1417320"/>
            <a:ext cx="914" cy="4434840"/>
          </a:xfrm>
          <a:prstGeom prst="line">
            <a:avLst/>
          </a:prstGeom>
          <a:noFill/>
          <a:ln w="88900">
            <a:solidFill>
              <a:srgbClr val="0B2E22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 rot="-600000">
            <a:off x="5961888" y="1920240"/>
            <a:ext cx="1143000" cy="3611880"/>
          </a:xfrm>
          <a:prstGeom prst="line">
            <a:avLst/>
          </a:prstGeom>
          <a:noFill/>
          <a:ln w="50800">
            <a:solidFill>
              <a:srgbClr val="6F8C4B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6" name="Shape 6"/>
          <p:cNvSpPr/>
          <p:nvPr/>
        </p:nvSpPr>
        <p:spPr>
          <a:xfrm rot="-1320000">
            <a:off x="5806440" y="1298448"/>
            <a:ext cx="914400" cy="310896"/>
          </a:xfrm>
          <a:prstGeom prst="ellipse">
            <a:avLst/>
          </a:prstGeom>
          <a:solidFill>
            <a:srgbClr val="A8C77A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7" name="Shape 7"/>
          <p:cNvSpPr/>
          <p:nvPr/>
        </p:nvSpPr>
        <p:spPr>
          <a:xfrm rot="-1320000">
            <a:off x="6007608" y="145389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 rot="1320000">
            <a:off x="6409944" y="1618488"/>
            <a:ext cx="914400" cy="310896"/>
          </a:xfrm>
          <a:prstGeom prst="ellipse">
            <a:avLst/>
          </a:prstGeom>
          <a:solidFill>
            <a:srgbClr val="A8C77A">
              <a:alpha val="9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9" name="Shape 9"/>
          <p:cNvSpPr/>
          <p:nvPr/>
        </p:nvSpPr>
        <p:spPr>
          <a:xfrm rot="1320000">
            <a:off x="6611112" y="177393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 rot="-1320000">
            <a:off x="5148072" y="1938528"/>
            <a:ext cx="914400" cy="310896"/>
          </a:xfrm>
          <a:prstGeom prst="ellipse">
            <a:avLst/>
          </a:prstGeom>
          <a:solidFill>
            <a:srgbClr val="A8C77A">
              <a:alpha val="9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1" name="Shape 11"/>
          <p:cNvSpPr/>
          <p:nvPr/>
        </p:nvSpPr>
        <p:spPr>
          <a:xfrm rot="-1320000">
            <a:off x="5349240" y="209397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 rot="1320000">
            <a:off x="6080760" y="2258568"/>
            <a:ext cx="914400" cy="310896"/>
          </a:xfrm>
          <a:prstGeom prst="ellipse">
            <a:avLst/>
          </a:prstGeom>
          <a:solidFill>
            <a:srgbClr val="A8C77A">
              <a:alpha val="94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 rot="1320000">
            <a:off x="6281928" y="241401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4" name="Shape 14"/>
          <p:cNvSpPr/>
          <p:nvPr/>
        </p:nvSpPr>
        <p:spPr>
          <a:xfrm rot="-1320000">
            <a:off x="5477256" y="2578608"/>
            <a:ext cx="914400" cy="310896"/>
          </a:xfrm>
          <a:prstGeom prst="ellipse">
            <a:avLst/>
          </a:prstGeom>
          <a:solidFill>
            <a:srgbClr val="2F6945">
              <a:alpha val="9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 rot="-1320000">
            <a:off x="5678424" y="273405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rot="1320000">
            <a:off x="6739128" y="2898648"/>
            <a:ext cx="914400" cy="310896"/>
          </a:xfrm>
          <a:prstGeom prst="ellipse">
            <a:avLst/>
          </a:prstGeom>
          <a:solidFill>
            <a:srgbClr val="2F6945">
              <a:alpha val="9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 rot="1320000">
            <a:off x="6940296" y="305409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8" name="Shape 18"/>
          <p:cNvSpPr/>
          <p:nvPr/>
        </p:nvSpPr>
        <p:spPr>
          <a:xfrm rot="-1320000">
            <a:off x="5806440" y="3218688"/>
            <a:ext cx="914400" cy="310896"/>
          </a:xfrm>
          <a:prstGeom prst="ellipse">
            <a:avLst/>
          </a:prstGeom>
          <a:solidFill>
            <a:srgbClr val="2F6945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9" name="Shape 19"/>
          <p:cNvSpPr/>
          <p:nvPr/>
        </p:nvSpPr>
        <p:spPr>
          <a:xfrm rot="-1320000">
            <a:off x="6007608" y="337413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0" name="Shape 20"/>
          <p:cNvSpPr/>
          <p:nvPr/>
        </p:nvSpPr>
        <p:spPr>
          <a:xfrm rot="1320000">
            <a:off x="6409944" y="3538728"/>
            <a:ext cx="914400" cy="310896"/>
          </a:xfrm>
          <a:prstGeom prst="ellipse">
            <a:avLst/>
          </a:prstGeom>
          <a:solidFill>
            <a:srgbClr val="2F6945">
              <a:alpha val="8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1" name="Shape 21"/>
          <p:cNvSpPr/>
          <p:nvPr/>
        </p:nvSpPr>
        <p:spPr>
          <a:xfrm rot="1320000">
            <a:off x="6611112" y="369417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2" name="Shape 22"/>
          <p:cNvSpPr/>
          <p:nvPr/>
        </p:nvSpPr>
        <p:spPr>
          <a:xfrm rot="-1320000">
            <a:off x="5148072" y="3858768"/>
            <a:ext cx="914400" cy="310896"/>
          </a:xfrm>
          <a:prstGeom prst="ellipse">
            <a:avLst/>
          </a:prstGeom>
          <a:solidFill>
            <a:srgbClr val="2F6945">
              <a:alpha val="84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3" name="Shape 23"/>
          <p:cNvSpPr/>
          <p:nvPr/>
        </p:nvSpPr>
        <p:spPr>
          <a:xfrm rot="-1320000">
            <a:off x="5349240" y="401421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4" name="Shape 24"/>
          <p:cNvSpPr/>
          <p:nvPr/>
        </p:nvSpPr>
        <p:spPr>
          <a:xfrm rot="1320000">
            <a:off x="6080760" y="4178808"/>
            <a:ext cx="914400" cy="310896"/>
          </a:xfrm>
          <a:prstGeom prst="ellipse">
            <a:avLst/>
          </a:prstGeom>
          <a:solidFill>
            <a:srgbClr val="6F8C4B">
              <a:alpha val="8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5" name="Shape 25"/>
          <p:cNvSpPr/>
          <p:nvPr/>
        </p:nvSpPr>
        <p:spPr>
          <a:xfrm rot="1320000">
            <a:off x="6281928" y="433425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6" name="Shape 26"/>
          <p:cNvSpPr/>
          <p:nvPr/>
        </p:nvSpPr>
        <p:spPr>
          <a:xfrm rot="-1320000">
            <a:off x="5477256" y="4498848"/>
            <a:ext cx="914400" cy="310896"/>
          </a:xfrm>
          <a:prstGeom prst="ellipse">
            <a:avLst/>
          </a:prstGeom>
          <a:solidFill>
            <a:srgbClr val="6F8C4B">
              <a:alpha val="8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7" name="Shape 27"/>
          <p:cNvSpPr/>
          <p:nvPr/>
        </p:nvSpPr>
        <p:spPr>
          <a:xfrm rot="-1320000">
            <a:off x="5678424" y="465429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8" name="Shape 28"/>
          <p:cNvSpPr/>
          <p:nvPr/>
        </p:nvSpPr>
        <p:spPr>
          <a:xfrm rot="1320000">
            <a:off x="6739128" y="4818888"/>
            <a:ext cx="914400" cy="310896"/>
          </a:xfrm>
          <a:prstGeom prst="ellipse">
            <a:avLst/>
          </a:prstGeom>
          <a:solidFill>
            <a:srgbClr val="6F8C4B">
              <a:alpha val="7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9" name="Shape 29"/>
          <p:cNvSpPr/>
          <p:nvPr/>
        </p:nvSpPr>
        <p:spPr>
          <a:xfrm rot="1320000">
            <a:off x="6940296" y="497433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30" name="Shape 30"/>
          <p:cNvSpPr/>
          <p:nvPr/>
        </p:nvSpPr>
        <p:spPr>
          <a:xfrm rot="-1320000">
            <a:off x="5806440" y="5138928"/>
            <a:ext cx="914400" cy="310896"/>
          </a:xfrm>
          <a:prstGeom prst="ellipse">
            <a:avLst/>
          </a:prstGeom>
          <a:solidFill>
            <a:srgbClr val="6F8C4B">
              <a:alpha val="7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31" name="Shape 31"/>
          <p:cNvSpPr/>
          <p:nvPr/>
        </p:nvSpPr>
        <p:spPr>
          <a:xfrm rot="-1320000">
            <a:off x="6007608" y="5294376"/>
            <a:ext cx="512064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32" name="Text 32"/>
          <p:cNvSpPr/>
          <p:nvPr/>
        </p:nvSpPr>
        <p:spPr>
          <a:xfrm>
            <a:off x="713232" y="16002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3D2A"/>
                </a:solidFill>
                <a:latin typeface="Arial"/>
                <a:ea typeface="Arial"/>
                <a:cs typeface="Arial"/>
              </a:rPr>
              <a:t xml:space="preserve">BRAZIL NUT TREE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3" name="Text 33"/>
          <p:cNvSpPr/>
          <p:nvPr/>
        </p:nvSpPr>
        <p:spPr>
          <a:xfrm>
            <a:off x="713232" y="2148840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An emergent giant whose fruit links pollinators, rodents and forest people.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4" name="Text 34"/>
          <p:cNvSpPr/>
          <p:nvPr/>
        </p:nvSpPr>
        <p:spPr>
          <a:xfrm>
            <a:off x="7543800" y="20116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F8C4B"/>
                </a:solidFill>
                <a:latin typeface="Arial"/>
                <a:ea typeface="Arial"/>
                <a:cs typeface="Arial"/>
              </a:rPr>
              <a:t xml:space="preserve">LIANA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5" name="Text 35"/>
          <p:cNvSpPr/>
          <p:nvPr/>
        </p:nvSpPr>
        <p:spPr>
          <a:xfrm>
            <a:off x="7543800" y="25603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A climbing strategy that races toward light without building a trunk.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6" name="Text 36"/>
          <p:cNvSpPr/>
          <p:nvPr/>
        </p:nvSpPr>
        <p:spPr>
          <a:xfrm>
            <a:off x="713232" y="420624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A91A8"/>
                </a:solidFill>
                <a:latin typeface="Arial"/>
                <a:ea typeface="Arial"/>
                <a:cs typeface="Arial"/>
              </a:rPr>
              <a:t xml:space="preserve">BROMELIAD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7" name="Text 37"/>
          <p:cNvSpPr/>
          <p:nvPr/>
        </p:nvSpPr>
        <p:spPr>
          <a:xfrm>
            <a:off x="713232" y="4736592"/>
            <a:ext cx="416052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A canopy reservoir: leaves hold water and create habitat above ground.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8" name="Text 38"/>
          <p:cNvSpPr/>
          <p:nvPr/>
        </p:nvSpPr>
        <p:spPr>
          <a:xfrm>
            <a:off x="7543800" y="4681728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6A4C"/>
                </a:solidFill>
                <a:latin typeface="Arial"/>
                <a:ea typeface="Arial"/>
                <a:cs typeface="Arial"/>
              </a:rPr>
              <a:t xml:space="preserve">Structure becomes habitat.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9" name="Text 39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05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The Amazon exports climate stability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241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945"/>
                </a:solidFill>
                <a:latin typeface="Arial"/>
                <a:ea typeface="Arial"/>
                <a:cs typeface="Arial"/>
              </a:rPr>
              <a:t xml:space="preserve">THREE PLANETARY SERVICES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2103120" y="3474720"/>
            <a:ext cx="7955280" cy="914"/>
          </a:xfrm>
          <a:prstGeom prst="line">
            <a:avLst/>
          </a:prstGeom>
          <a:noFill/>
          <a:ln w="25400">
            <a:solidFill>
              <a:srgbClr val="6F8C4B">
                <a:alpha val="55000"/>
              </a:srgbClr>
            </a:solidFill>
            <a:prstDash val="solid"/>
            <a:tailEnd type="triangle"/>
          </a:ln>
        </p:spPr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713232" y="1481328"/>
            <a:ext cx="2971800" cy="2971800"/>
          </a:xfrm>
          <a:prstGeom prst="ellipse">
            <a:avLst/>
          </a:prstGeom>
          <a:solidFill>
            <a:srgbClr val="123D2A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969264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150–200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987552" y="26517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billion tonnes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804672" y="466344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D2A"/>
                </a:solidFill>
                <a:latin typeface="Arial"/>
                <a:ea typeface="Arial"/>
                <a:cs typeface="Arial"/>
              </a:rPr>
              <a:t xml:space="preserve">CARBON STORED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786384" y="5138928"/>
            <a:ext cx="320040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Trees and soils hold carbon that would otherwise intensify warming.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>
            <a:off x="4343400" y="1481328"/>
            <a:ext cx="2971800" cy="2971800"/>
          </a:xfrm>
          <a:prstGeom prst="ellipse">
            <a:avLst/>
          </a:prstGeom>
          <a:solidFill>
            <a:srgbClr val="4A91A8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4599432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≈50%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4617720" y="26517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of rainfall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Text 13"/>
          <p:cNvSpPr/>
          <p:nvPr/>
        </p:nvSpPr>
        <p:spPr>
          <a:xfrm>
            <a:off x="4434840" y="466344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1A8"/>
                </a:solidFill>
                <a:latin typeface="Arial"/>
                <a:ea typeface="Arial"/>
                <a:cs typeface="Arial"/>
              </a:rPr>
              <a:t xml:space="preserve">WATER RECYCLED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4416552" y="5138928"/>
            <a:ext cx="320040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Evapotranspiration sends moisture back into the atmosphere and downwind.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>
            <a:off x="7973568" y="1481328"/>
            <a:ext cx="2971800" cy="2971800"/>
          </a:xfrm>
          <a:prstGeom prst="ellipse">
            <a:avLst/>
          </a:prstGeom>
          <a:solidFill>
            <a:srgbClr val="E0A83E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6" name="Text 16"/>
          <p:cNvSpPr/>
          <p:nvPr/>
        </p:nvSpPr>
        <p:spPr>
          <a:xfrm>
            <a:off x="8229600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≈10%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7" name="Text 17"/>
          <p:cNvSpPr/>
          <p:nvPr/>
        </p:nvSpPr>
        <p:spPr>
          <a:xfrm>
            <a:off x="8247888" y="26517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of known species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8065008" y="466344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LIFE REPRESENTED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8046720" y="5138928"/>
            <a:ext cx="320040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Evolutionary options remain embedded in connected habitats.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06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Deforestation is falling — annual loss remains vast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42416"/>
            <a:ext cx="576072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945"/>
                </a:solidFill>
                <a:latin typeface="Arial"/>
                <a:ea typeface="Arial"/>
                <a:cs typeface="Arial"/>
              </a:rPr>
              <a:t xml:space="preserve">BRAZILIAN LEGAL AMAZON • ANNUAL CLEAR-CUT AREA</a:t>
            </a:r>
            <a:endParaRPr lang="en-US" dirty="0"/>
          </a:p>
        </p:txBody>
      </p:sp>
      <p:graphicFrame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      <p:nvGraphicFramePr>
          <p:cNvPr id="4" name="Chart"/>
          <p:cNvGraphicFramePr>
            <a:graphicFrameLocks noGrp="1"/>
          </p:cNvGraphicFramePr>
          <p:nvPr/>
        </p:nvGraphicFramePr>
        <p:xfrm>
          <a:off x="658368" y="1481328"/>
          <a:ext cx="7589520" cy="4526280"/>
        </p:xfrm>
        <a:graphic>
          <a:graphicData uri="http://schemas.openxmlformats.org/drawingml/2006/chart">
            <c:chart r:id="rId2"/>
          </a:graphicData>
        </a:graphic>
      </p:graphicFrame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8668512" y="1600200"/>
            <a:ext cx="2788920" cy="4251960"/>
          </a:xfrm>
          <a:prstGeom prst="rect">
            <a:avLst/>
          </a:prstGeom>
          <a:solidFill>
            <a:srgbClr val="0B2E22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8961120" y="2057400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−52%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9006840" y="2907792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from the 2021 peak to 2024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8979408" y="4160520"/>
            <a:ext cx="221284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Progress is real. So is the remaining annual loss.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07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566928" y="384048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3126"/>
                </a:solidFill>
                <a:latin typeface="Arial"/>
                <a:ea typeface="Arial"/>
                <a:cs typeface="Arial"/>
              </a:rPr>
              <a:t xml:space="preserve">Clearing compounds into fire and fragmentation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594360" y="1033272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4732"/>
                </a:solidFill>
                <a:latin typeface="Arial"/>
                <a:ea typeface="Arial"/>
                <a:cs typeface="Arial"/>
              </a:rPr>
              <a:t xml:space="preserve">THE THREAT IS A CHAIN REACTION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2926080" y="2971800"/>
            <a:ext cx="768096" cy="914"/>
          </a:xfrm>
          <a:prstGeom prst="line">
            <a:avLst/>
          </a:prstGeom>
          <a:noFill/>
          <a:ln w="38100">
            <a:solidFill>
              <a:srgbClr val="B94732"/>
            </a:solidFill>
            <a:prstDash val="solid"/>
            <a:tailEnd type="triangle"/>
          </a:ln>
        </p:spPr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5669280" y="2971800"/>
            <a:ext cx="768096" cy="914"/>
          </a:xfrm>
          <a:prstGeom prst="line">
            <a:avLst/>
          </a:prstGeom>
          <a:noFill/>
          <a:ln w="38100">
            <a:solidFill>
              <a:srgbClr val="B94732"/>
            </a:solidFill>
            <a:prstDash val="solid"/>
            <a:tailEnd type="triangle"/>
          </a:ln>
        </p:spPr>
      </p:sp>
      <p:sp xmlns:p="http://schemas.openxmlformats.org/presentationml/2006/main" xmlns:a="http://schemas.openxmlformats.org/drawingml/2006/main">
        <p:nvSpPr>
          <p:cNvPr id="6" name="Shape 6"/>
          <p:cNvSpPr/>
          <p:nvPr/>
        </p:nvSpPr>
        <p:spPr>
          <a:xfrm>
            <a:off x="8412480" y="2971800"/>
            <a:ext cx="768096" cy="914"/>
          </a:xfrm>
          <a:prstGeom prst="line">
            <a:avLst/>
          </a:prstGeom>
          <a:noFill/>
          <a:ln w="38100">
            <a:solidFill>
              <a:srgbClr val="B94732"/>
            </a:solidFill>
            <a:prstDash val="solid"/>
            <a:tailEnd type="triangle"/>
          </a:ln>
        </p:spPr>
      </p:sp>
      <p:sp xmlns:p="http://schemas.openxmlformats.org/presentationml/2006/main" xmlns:a="http://schemas.openxmlformats.org/drawingml/2006/main">
        <p:nvSpPr>
          <p:cNvPr id="7" name="Shape 7"/>
          <p:cNvSpPr/>
          <p:nvPr/>
        </p:nvSpPr>
        <p:spPr>
          <a:xfrm>
            <a:off x="960120" y="1920240"/>
            <a:ext cx="2011680" cy="2103120"/>
          </a:xfrm>
          <a:prstGeom prst="roundRect">
            <a:avLst/>
          </a:prstGeom>
          <a:solidFill>
            <a:srgbClr val="E0A83E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1161288" y="2084832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CLEAR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1161288" y="2514600"/>
            <a:ext cx="1609344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2E22"/>
                </a:solidFill>
                <a:latin typeface="Arial"/>
                <a:ea typeface="Arial"/>
                <a:cs typeface="Arial"/>
              </a:rPr>
              <a:t xml:space="preserve">Cattle, crops, roads and mining remove canopy.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>
            <a:off x="3703320" y="1920240"/>
            <a:ext cx="2011680" cy="2103120"/>
          </a:xfrm>
          <a:prstGeom prst="roundRect">
            <a:avLst/>
          </a:prstGeom>
          <a:solidFill>
            <a:srgbClr val="D46A4C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3904488" y="2084832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DRY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3904488" y="2514600"/>
            <a:ext cx="1609344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Edges heat up; moisture recycling weakens.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>
            <a:off x="6446520" y="1920240"/>
            <a:ext cx="2011680" cy="2103120"/>
          </a:xfrm>
          <a:prstGeom prst="roundRect">
            <a:avLst/>
          </a:prstGeom>
          <a:solidFill>
            <a:srgbClr val="B94732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6647688" y="2084832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BURN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6647688" y="2514600"/>
            <a:ext cx="1609344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Intentional and accidental fires penetrate degraded forest.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>
            <a:off x="9189720" y="1920240"/>
            <a:ext cx="2011680" cy="2103120"/>
          </a:xfrm>
          <a:prstGeom prst="roundRect">
            <a:avLst/>
          </a:prstGeom>
          <a:solidFill>
            <a:srgbClr val="0B2E22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7" name="Text 17"/>
          <p:cNvSpPr/>
          <p:nvPr/>
        </p:nvSpPr>
        <p:spPr>
          <a:xfrm>
            <a:off x="9390888" y="2084832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ISOLATE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9390888" y="2514600"/>
            <a:ext cx="1609344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Small populations lose movement, mates and resilience.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1078992" y="4736592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D2A"/>
                </a:solidFill>
                <a:latin typeface="Arial"/>
                <a:ea typeface="Arial"/>
                <a:cs typeface="Arial"/>
              </a:rPr>
              <a:t xml:space="preserve">The most dangerous threshold is not one felled tree — it is a forest that can no longer sustain its own water cycle.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267"/>
                </a:solidFill>
                <a:latin typeface="Arial"/>
                <a:ea typeface="Arial"/>
                <a:cs typeface="Arial"/>
              </a:rPr>
              <a:t xml:space="preserve">08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658368" y="53035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Keep the forest connected, wet and alive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685800" y="135331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THE PROTECTION LOGIC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749808" y="1938528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01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1645920" y="193852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Protect connected landscapes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6126480" y="1920240"/>
            <a:ext cx="50749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Indigenous territories, protected areas and ecological corridors keep movement possible.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Shape 7"/>
          <p:cNvSpPr/>
          <p:nvPr/>
        </p:nvSpPr>
        <p:spPr>
          <a:xfrm>
            <a:off x="1645920" y="2578608"/>
            <a:ext cx="9509760" cy="914"/>
          </a:xfrm>
          <a:prstGeom prst="line">
            <a:avLst/>
          </a:prstGeom>
          <a:noFill/>
          <a:ln w="12700">
            <a:solidFill>
              <a:srgbClr val="6F8C4B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749808" y="3218688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02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1645920" y="321868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Stop illegal clearing and fire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6126480" y="3200400"/>
            <a:ext cx="50749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Enforcement, traceable supply chains and rapid detection remove the incentive to destroy.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Shape 11"/>
          <p:cNvSpPr/>
          <p:nvPr/>
        </p:nvSpPr>
        <p:spPr>
          <a:xfrm>
            <a:off x="1645920" y="3858768"/>
            <a:ext cx="9509760" cy="914"/>
          </a:xfrm>
          <a:prstGeom prst="line">
            <a:avLst/>
          </a:prstGeom>
          <a:noFill/>
          <a:ln w="12700">
            <a:solidFill>
              <a:srgbClr val="6F8C4B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749808" y="4498848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A83E"/>
                </a:solidFill>
                <a:latin typeface="Arial"/>
                <a:ea typeface="Arial"/>
                <a:cs typeface="Arial"/>
              </a:rPr>
              <a:t xml:space="preserve">03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Text 13"/>
          <p:cNvSpPr/>
          <p:nvPr/>
        </p:nvSpPr>
        <p:spPr>
          <a:xfrm>
            <a:off x="1645920" y="449884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Restore critical forest edges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6126480" y="4480560"/>
            <a:ext cx="50749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8D3"/>
                </a:solidFill>
                <a:latin typeface="Arial"/>
                <a:ea typeface="Arial"/>
                <a:cs typeface="Arial"/>
              </a:rPr>
              <a:t xml:space="preserve">Reconnect fragments and rivers before ecological functions collapse.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>
            <a:off x="1645920" y="5138928"/>
            <a:ext cx="9509760" cy="914"/>
          </a:xfrm>
          <a:prstGeom prst="line">
            <a:avLst/>
          </a:prstGeom>
          <a:noFill/>
          <a:ln w="12700">
            <a:solidFill>
              <a:srgbClr val="6F8C4B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rot="-300000">
            <a:off x="8321040" y="5440680"/>
            <a:ext cx="2880360" cy="640080"/>
          </a:xfrm>
          <a:prstGeom prst="arc">
            <a:avLst/>
          </a:prstGeom>
          <a:noFill/>
          <a:ln w="63500">
            <a:solidFill>
              <a:srgbClr val="4A91A8">
                <a:alpha val="90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 rot="-1080000">
            <a:off x="457200" y="6053328"/>
            <a:ext cx="1170432" cy="384048"/>
          </a:xfrm>
          <a:prstGeom prst="ellipse">
            <a:avLst/>
          </a:prstGeom>
          <a:solidFill>
            <a:srgbClr val="A8C77A">
              <a:alpha val="8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8" name="Shape 18"/>
          <p:cNvSpPr/>
          <p:nvPr/>
        </p:nvSpPr>
        <p:spPr>
          <a:xfrm rot="-1080000">
            <a:off x="71469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9" name="Shape 19"/>
          <p:cNvSpPr/>
          <p:nvPr/>
        </p:nvSpPr>
        <p:spPr>
          <a:xfrm rot="1080000">
            <a:off x="2194560" y="6053328"/>
            <a:ext cx="1170432" cy="384048"/>
          </a:xfrm>
          <a:prstGeom prst="ellipse">
            <a:avLst/>
          </a:prstGeom>
          <a:solidFill>
            <a:srgbClr val="2F6945">
              <a:alpha val="7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0" name="Shape 20"/>
          <p:cNvSpPr/>
          <p:nvPr/>
        </p:nvSpPr>
        <p:spPr>
          <a:xfrm rot="1080000">
            <a:off x="245205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1" name="Shape 21"/>
          <p:cNvSpPr/>
          <p:nvPr/>
        </p:nvSpPr>
        <p:spPr>
          <a:xfrm rot="-1080000">
            <a:off x="3931920" y="6053328"/>
            <a:ext cx="1170432" cy="384048"/>
          </a:xfrm>
          <a:prstGeom prst="ellipse">
            <a:avLst/>
          </a:prstGeom>
          <a:solidFill>
            <a:srgbClr val="A8C77A">
              <a:alpha val="7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2" name="Shape 22"/>
          <p:cNvSpPr/>
          <p:nvPr/>
        </p:nvSpPr>
        <p:spPr>
          <a:xfrm rot="-1080000">
            <a:off x="418941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3" name="Shape 23"/>
          <p:cNvSpPr/>
          <p:nvPr/>
        </p:nvSpPr>
        <p:spPr>
          <a:xfrm rot="1080000">
            <a:off x="5669280" y="6053328"/>
            <a:ext cx="1170432" cy="384048"/>
          </a:xfrm>
          <a:prstGeom prst="ellipse">
            <a:avLst/>
          </a:prstGeom>
          <a:solidFill>
            <a:srgbClr val="2F6945">
              <a:alpha val="6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4" name="Shape 24"/>
          <p:cNvSpPr/>
          <p:nvPr/>
        </p:nvSpPr>
        <p:spPr>
          <a:xfrm rot="1080000">
            <a:off x="592677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5" name="Shape 25"/>
          <p:cNvSpPr/>
          <p:nvPr/>
        </p:nvSpPr>
        <p:spPr>
          <a:xfrm rot="-1080000">
            <a:off x="7406640" y="6053328"/>
            <a:ext cx="1170432" cy="384048"/>
          </a:xfrm>
          <a:prstGeom prst="ellipse">
            <a:avLst/>
          </a:prstGeom>
          <a:solidFill>
            <a:srgbClr val="A8C77A">
              <a:alpha val="64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6" name="Shape 26"/>
          <p:cNvSpPr/>
          <p:nvPr/>
        </p:nvSpPr>
        <p:spPr>
          <a:xfrm rot="-1080000">
            <a:off x="766413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7" name="Shape 27"/>
          <p:cNvSpPr/>
          <p:nvPr/>
        </p:nvSpPr>
        <p:spPr>
          <a:xfrm rot="1080000">
            <a:off x="9144000" y="6053328"/>
            <a:ext cx="1170432" cy="384048"/>
          </a:xfrm>
          <a:prstGeom prst="ellipse">
            <a:avLst/>
          </a:prstGeom>
          <a:solidFill>
            <a:srgbClr val="2F6945">
              <a:alpha val="6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8" name="Shape 28"/>
          <p:cNvSpPr/>
          <p:nvPr/>
        </p:nvSpPr>
        <p:spPr>
          <a:xfrm rot="1080000">
            <a:off x="940149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9" name="Shape 29"/>
          <p:cNvSpPr/>
          <p:nvPr/>
        </p:nvSpPr>
        <p:spPr>
          <a:xfrm rot="-1080000">
            <a:off x="10881360" y="6053328"/>
            <a:ext cx="1170432" cy="384048"/>
          </a:xfrm>
          <a:prstGeom prst="ellipse">
            <a:avLst/>
          </a:prstGeom>
          <a:solidFill>
            <a:srgbClr val="A8C77A">
              <a:alpha val="5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30" name="Shape 30"/>
          <p:cNvSpPr/>
          <p:nvPr/>
        </p:nvSpPr>
        <p:spPr>
          <a:xfrm rot="-1080000">
            <a:off x="11138855" y="6245352"/>
            <a:ext cx="655442" cy="914"/>
          </a:xfrm>
          <a:prstGeom prst="line">
            <a:avLst/>
          </a:prstGeom>
          <a:noFill/>
          <a:ln w="10160">
            <a:solidFill>
              <a:srgbClr val="0B2E22">
                <a:alpha val="45000"/>
              </a:srgbClr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31" name="Text 31"/>
          <p:cNvSpPr/>
          <p:nvPr/>
        </p:nvSpPr>
        <p:spPr>
          <a:xfrm>
            <a:off x="11137392" y="64282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C77A"/>
                </a:solidFill>
                <a:latin typeface="Arial"/>
                <a:ea typeface="Arial"/>
                <a:cs typeface="Arial"/>
              </a:rPr>
              <a:t xml:space="preserve">09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100000"/>
                <a:satMod val="2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@jiayunxie/pptx</Application>
  <PresentationFormat>Custom</PresentationFormat>
  <Company>Xiejiayun/pptx</Company>
  <AppVersion>1.0</AppVersion>
</Properties>
</file>

<file path=docProps/core.xml><?xml version="1.0" encoding="utf-8"?>
<cp:coreProperties xmlns:cp="http://schemas.openxmlformats.org/package/2006/metadata/core-properties" xmlns:dc="http://purl.org/dc/elements/1.1/">
  <dc:creator>Codex</dc:creator>
  <cp:lastModifiedBy>@jiayunxie/pptx</cp:lastModifiedBy>
  <cp:revision>1</cp:revision>
  <dc:title>Amazon Biodiversity</dc:title>
  <dc:subject>Amazon rainforest biodiversity</dc:subject>
</cp:coreProperties>
</file>